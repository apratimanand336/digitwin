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9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231A2E"/>
                </a:solidFill>
                <a:latin typeface="Arial"/>
              </a:defRPr>
            </a:pPr>
            <a:r>
              <a:rPr lang="en-GB" sz="1150" b="0" i="0" u="none" strike="noStrike">
                <a:solidFill>
                  <a:srgbClr val="231A2E"/>
                </a:solidFill>
                <a:latin typeface="Arial"/>
              </a:rPr>
              <a:t>Illustrative cost impact of a single stoppage
event (indexed, reactive = 100)</a:t>
            </a:r>
          </a:p>
        </c:rich>
      </c:tx>
      <c:overlay val="0"/>
    </c:title>
    <c:autoTitleDeleted val="0"/>
    <c:plotArea>
      <c:layout/>
      <c:barChart>
        <c:barDir val="col"/>
        <c:grouping val="clustered"/>
        <c:varyColors val="0"/>
        <c:ser>
          <c:idx val="0"/>
          <c:order val="0"/>
          <c:tx>
            <c:strRef>
              <c:f>Sheet1!$B$1</c:f>
              <c:strCache>
                <c:ptCount val="1"/>
                <c:pt idx="0">
                  <c:v>Cost accumulated</c:v>
                </c:pt>
              </c:strCache>
            </c:strRef>
          </c:tx>
          <c:spPr>
            <a:solidFill>
              <a:srgbClr val="D9B8FF"/>
            </a:solidFill>
            <a:effectLst/>
          </c:spPr>
          <c:invertIfNegative val="0"/>
          <c:dPt>
            <c:idx val="0"/>
            <c:invertIfNegative val="0"/>
            <c:bubble3D val="0"/>
            <c:spPr>
              <a:solidFill>
                <a:srgbClr val="D9B8FF"/>
              </a:solidFill>
              <a:effectLst/>
            </c:spPr>
            <c:extLst>
              <c:ext xmlns:c16="http://schemas.microsoft.com/office/drawing/2014/chart" uri="{C3380CC4-5D6E-409C-BE32-E72D297353CC}">
                <c16:uniqueId val="{00000001-6811-4393-90B2-9CBD99B59F48}"/>
              </c:ext>
            </c:extLst>
          </c:dPt>
          <c:dPt>
            <c:idx val="1"/>
            <c:invertIfNegative val="0"/>
            <c:bubble3D val="0"/>
            <c:spPr>
              <a:solidFill>
                <a:srgbClr val="A100FF"/>
              </a:solidFill>
              <a:effectLst/>
            </c:spPr>
            <c:extLst>
              <c:ext xmlns:c16="http://schemas.microsoft.com/office/drawing/2014/chart" uri="{C3380CC4-5D6E-409C-BE32-E72D297353CC}">
                <c16:uniqueId val="{00000003-6811-4393-90B2-9CBD99B59F48}"/>
              </c:ext>
            </c:extLst>
          </c:dPt>
          <c:dLbls>
            <c:numFmt formatCode="#,##0" sourceLinked="0"/>
            <c:spPr>
              <a:noFill/>
              <a:ln>
                <a:noFill/>
              </a:ln>
              <a:effectLst/>
            </c:spPr>
            <c:txPr>
              <a:bodyPr/>
              <a:lstStyle/>
              <a:p>
                <a:pPr>
                  <a:defRPr sz="1200" b="0" i="0" u="none" strike="noStrike">
                    <a:solidFill>
                      <a:srgbClr val="23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Reactive
(alert after the fact)</c:v>
                </c:pt>
                <c:pt idx="1">
                  <c:v>Predictive
(DigitalTwin.ai)</c:v>
                </c:pt>
              </c:strCache>
            </c:strRef>
          </c:cat>
          <c:val>
            <c:numRef>
              <c:f>Sheet1!$B$2:$B$3</c:f>
              <c:numCache>
                <c:formatCode>General</c:formatCode>
                <c:ptCount val="2"/>
                <c:pt idx="0">
                  <c:v>100</c:v>
                </c:pt>
                <c:pt idx="1">
                  <c:v>35</c:v>
                </c:pt>
              </c:numCache>
            </c:numRef>
          </c:val>
          <c:extLst>
            <c:ext xmlns:c16="http://schemas.microsoft.com/office/drawing/2014/chart" uri="{C3380CC4-5D6E-409C-BE32-E72D297353CC}">
              <c16:uniqueId val="{00000004-6811-4393-90B2-9CBD99B59F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A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00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221"/>
        </a:solidFill>
        <a:effectLst/>
      </p:bgPr>
    </p:bg>
    <p:spTree>
      <p:nvGrpSpPr>
        <p:cNvPr id="1" name=""/>
        <p:cNvGrpSpPr/>
        <p:nvPr/>
      </p:nvGrpSpPr>
      <p:grpSpPr>
        <a:xfrm>
          <a:off x="0" y="0"/>
          <a:ext cx="0" cy="0"/>
          <a:chOff x="0" y="0"/>
          <a:chExt cx="0" cy="0"/>
        </a:xfrm>
      </p:grpSpPr>
      <p:sp>
        <p:nvSpPr>
          <p:cNvPr id="2" name="Text 0"/>
          <p:cNvSpPr txBox="1"/>
          <p:nvPr/>
        </p:nvSpPr>
        <p:spPr>
          <a:xfrm>
            <a:off x="8778240" y="1463040"/>
            <a:ext cx="4572000" cy="5029200"/>
          </a:xfrm>
          <a:prstGeom prst="rect">
            <a:avLst/>
          </a:prstGeom>
          <a:noFill/>
          <a:ln/>
        </p:spPr>
        <p:txBody>
          <a:bodyPr wrap="square" lIns="0" tIns="0" rIns="0" bIns="0" rtlCol="0" anchor="ctr"/>
          <a:lstStyle/>
          <a:p>
            <a:pPr marL="0" indent="0" algn="ctr">
              <a:buNone/>
            </a:pPr>
            <a:r>
              <a:rPr lang="en-US" sz="34000" b="1" dirty="0">
                <a:solidFill>
                  <a:srgbClr val="241038"/>
                </a:solidFill>
                <a:latin typeface="Cambria" pitchFamily="34" charset="0"/>
                <a:ea typeface="Cambria" pitchFamily="34" charset="-122"/>
                <a:cs typeface="Cambria" pitchFamily="34" charset="-120"/>
              </a:rPr>
              <a:t>&gt;</a:t>
            </a:r>
            <a:endParaRPr lang="en-US" sz="34000" dirty="0"/>
          </a:p>
        </p:txBody>
      </p:sp>
      <p:sp>
        <p:nvSpPr>
          <p:cNvPr id="3" name="Shape 1"/>
          <p:cNvSpPr/>
          <p:nvPr/>
        </p:nvSpPr>
        <p:spPr>
          <a:xfrm>
            <a:off x="548640" y="530352"/>
            <a:ext cx="182880" cy="182880"/>
          </a:xfrm>
          <a:prstGeom prst="ellipse">
            <a:avLst/>
          </a:prstGeom>
          <a:solidFill>
            <a:srgbClr val="A100FF"/>
          </a:solidFill>
          <a:ln/>
        </p:spPr>
        <p:txBody>
          <a:bodyPr/>
          <a:lstStyle/>
          <a:p>
            <a:endParaRPr lang="en-IN"/>
          </a:p>
        </p:txBody>
      </p:sp>
      <p:sp>
        <p:nvSpPr>
          <p:cNvPr id="4" name="Text 2"/>
          <p:cNvSpPr txBox="1"/>
          <p:nvPr/>
        </p:nvSpPr>
        <p:spPr>
          <a:xfrm>
            <a:off x="896112" y="484632"/>
            <a:ext cx="9144000" cy="365760"/>
          </a:xfrm>
          <a:prstGeom prst="rect">
            <a:avLst/>
          </a:prstGeom>
          <a:noFill/>
          <a:ln/>
        </p:spPr>
        <p:txBody>
          <a:bodyPr wrap="square" lIns="0" tIns="0" rIns="0" bIns="0" rtlCol="0" anchor="ctr"/>
          <a:lstStyle/>
          <a:p>
            <a:pPr marL="0" indent="0">
              <a:buNone/>
            </a:pPr>
            <a:r>
              <a:rPr lang="en-US" sz="1250" b="1" kern="0" spc="150" dirty="0">
                <a:solidFill>
                  <a:srgbClr val="C9AEE8"/>
                </a:solidFill>
                <a:latin typeface="Calibri" pitchFamily="34" charset="0"/>
                <a:ea typeface="Calibri" pitchFamily="34" charset="-122"/>
                <a:cs typeface="Calibri" pitchFamily="34" charset="-120"/>
              </a:rPr>
              <a:t>ACCENTURE INNOVATION CHALLENGE 2026  ·  ROUND 2  ·  PROBLEM TRACK 4</a:t>
            </a:r>
            <a:endParaRPr lang="en-US" sz="1250" dirty="0"/>
          </a:p>
        </p:txBody>
      </p:sp>
      <p:sp>
        <p:nvSpPr>
          <p:cNvPr id="5" name="Text 3"/>
          <p:cNvSpPr txBox="1"/>
          <p:nvPr/>
        </p:nvSpPr>
        <p:spPr>
          <a:xfrm>
            <a:off x="548640" y="2520315"/>
            <a:ext cx="96012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DigitalTwin.ai</a:t>
            </a:r>
            <a:endParaRPr lang="en-US" sz="5400" dirty="0"/>
          </a:p>
        </p:txBody>
      </p:sp>
      <p:sp>
        <p:nvSpPr>
          <p:cNvPr id="6" name="Text 4"/>
          <p:cNvSpPr txBox="1"/>
          <p:nvPr/>
        </p:nvSpPr>
        <p:spPr>
          <a:xfrm>
            <a:off x="548640" y="3312795"/>
            <a:ext cx="8778240" cy="822960"/>
          </a:xfrm>
          <a:prstGeom prst="rect">
            <a:avLst/>
          </a:prstGeom>
          <a:noFill/>
          <a:ln/>
        </p:spPr>
        <p:txBody>
          <a:bodyPr wrap="square" lIns="0" tIns="0" rIns="0" bIns="0" rtlCol="0" anchor="ctr"/>
          <a:lstStyle/>
          <a:p>
            <a:pPr marL="0" indent="0">
              <a:buNone/>
            </a:pPr>
            <a:r>
              <a:rPr lang="en-US" sz="1900" dirty="0">
                <a:solidFill>
                  <a:srgbClr val="D9B8FF"/>
                </a:solidFill>
                <a:latin typeface="Calibri" pitchFamily="34" charset="0"/>
                <a:ea typeface="Calibri" pitchFamily="34" charset="-122"/>
                <a:cs typeface="Calibri" pitchFamily="34" charset="-120"/>
              </a:rPr>
              <a:t>A Predictive-Prescriptive Digital Twin for Vehicle Assembly Line Operations</a:t>
            </a:r>
            <a:endParaRPr lang="en-US" sz="1900" dirty="0"/>
          </a:p>
        </p:txBody>
      </p:sp>
      <p:sp>
        <p:nvSpPr>
          <p:cNvPr id="7" name="Shape 5"/>
          <p:cNvSpPr/>
          <p:nvPr/>
        </p:nvSpPr>
        <p:spPr>
          <a:xfrm>
            <a:off x="548640" y="4886325"/>
            <a:ext cx="1463040" cy="32004"/>
          </a:xfrm>
          <a:prstGeom prst="rect">
            <a:avLst/>
          </a:prstGeom>
          <a:solidFill>
            <a:srgbClr val="A100FF"/>
          </a:solidFill>
          <a:ln/>
        </p:spPr>
        <p:txBody>
          <a:bodyPr/>
          <a:lstStyle/>
          <a:p>
            <a:endParaRPr lang="en-IN"/>
          </a:p>
        </p:txBody>
      </p:sp>
      <p:sp>
        <p:nvSpPr>
          <p:cNvPr id="8" name="Text 6"/>
          <p:cNvSpPr txBox="1"/>
          <p:nvPr/>
        </p:nvSpPr>
        <p:spPr>
          <a:xfrm>
            <a:off x="548640" y="4969383"/>
            <a:ext cx="822960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Detailed Business Proposal — Prepared for Round 2 Evaluation</a:t>
            </a:r>
            <a:endParaRPr lang="en-US" sz="1450" dirty="0"/>
          </a:p>
        </p:txBody>
      </p:sp>
      <p:sp>
        <p:nvSpPr>
          <p:cNvPr id="9" name="Text 7"/>
          <p:cNvSpPr txBox="1"/>
          <p:nvPr/>
        </p:nvSpPr>
        <p:spPr>
          <a:xfrm>
            <a:off x="548640" y="1602867"/>
            <a:ext cx="8229600" cy="958215"/>
          </a:xfrm>
          <a:prstGeom prst="rect">
            <a:avLst/>
          </a:prstGeom>
          <a:noFill/>
          <a:ln/>
        </p:spPr>
        <p:txBody>
          <a:bodyPr wrap="square" lIns="0" tIns="0" rIns="0" bIns="0" rtlCol="0" anchor="ctr"/>
          <a:lstStyle/>
          <a:p>
            <a:r>
              <a:rPr lang="en-US" sz="3200" b="1" dirty="0">
                <a:solidFill>
                  <a:srgbClr val="FFFFFF"/>
                </a:solidFill>
                <a:latin typeface="Cambria" pitchFamily="34" charset="0"/>
                <a:ea typeface="Cambria" pitchFamily="34" charset="-122"/>
                <a:cs typeface="Cambria" pitchFamily="34" charset="-120"/>
              </a:rPr>
              <a:t>Team : </a:t>
            </a:r>
            <a:r>
              <a:rPr lang="en-US" sz="3200" b="1" dirty="0" err="1">
                <a:solidFill>
                  <a:srgbClr val="FFFFFF"/>
                </a:solidFill>
                <a:latin typeface="Cambria" pitchFamily="34" charset="0"/>
                <a:ea typeface="Cambria" pitchFamily="34" charset="-122"/>
                <a:cs typeface="Cambria" pitchFamily="34" charset="-120"/>
              </a:rPr>
              <a:t>Catalyst_IITB_DigitalTwin</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8229600" cy="292608"/>
          </a:xfrm>
          <a:prstGeom prst="rect">
            <a:avLst/>
          </a:prstGeom>
          <a:noFill/>
          <a:ln/>
        </p:spPr>
        <p:txBody>
          <a:bodyPr wrap="square" lIns="0" tIns="0" rIns="0" bIns="0" rtlCol="0" anchor="ctr"/>
          <a:lstStyle/>
          <a:p>
            <a:pPr marL="0" indent="0">
              <a:buNone/>
            </a:pPr>
            <a:r>
              <a:rPr lang="en-US" sz="1200" b="1" kern="0" spc="200" dirty="0">
                <a:solidFill>
                  <a:srgbClr val="6E00B3"/>
                </a:solidFill>
                <a:latin typeface="Calibri" pitchFamily="34" charset="0"/>
                <a:ea typeface="Calibri" pitchFamily="34" charset="-122"/>
                <a:cs typeface="Calibri" pitchFamily="34" charset="-120"/>
              </a:rPr>
              <a:t>TEAM INTRODUCTION</a:t>
            </a:r>
            <a:endParaRPr lang="en-US" sz="1200" dirty="0"/>
          </a:p>
        </p:txBody>
      </p:sp>
      <p:sp>
        <p:nvSpPr>
          <p:cNvPr id="3" name="Text 1"/>
          <p:cNvSpPr txBox="1"/>
          <p:nvPr/>
        </p:nvSpPr>
        <p:spPr>
          <a:xfrm>
            <a:off x="548640" y="685800"/>
            <a:ext cx="10058400" cy="777240"/>
          </a:xfrm>
          <a:prstGeom prst="rect">
            <a:avLst/>
          </a:prstGeom>
          <a:noFill/>
          <a:ln/>
        </p:spPr>
        <p:txBody>
          <a:bodyPr wrap="square" lIns="0" tIns="0" rIns="0" bIns="0" rtlCol="0" anchor="ctr"/>
          <a:lstStyle/>
          <a:p>
            <a:pPr marL="0" indent="0">
              <a:buNone/>
            </a:pPr>
            <a:r>
              <a:rPr lang="en-US" sz="3000" b="1" dirty="0">
                <a:solidFill>
                  <a:srgbClr val="231A2E"/>
                </a:solidFill>
                <a:latin typeface="Cambria" pitchFamily="34" charset="0"/>
                <a:ea typeface="Cambria" pitchFamily="34" charset="-122"/>
                <a:cs typeface="Cambria" pitchFamily="34" charset="-120"/>
              </a:rPr>
              <a:t>Meet the Team Behind DigitalTwin.ai</a:t>
            </a:r>
            <a:endParaRPr lang="en-US" sz="3000" dirty="0"/>
          </a:p>
        </p:txBody>
      </p:sp>
      <p:sp>
        <p:nvSpPr>
          <p:cNvPr id="4" name="Text 2"/>
          <p:cNvSpPr txBox="1"/>
          <p:nvPr/>
        </p:nvSpPr>
        <p:spPr>
          <a:xfrm>
            <a:off x="548640" y="1417320"/>
            <a:ext cx="10515600" cy="365760"/>
          </a:xfrm>
          <a:prstGeom prst="rect">
            <a:avLst/>
          </a:prstGeom>
          <a:noFill/>
          <a:ln/>
        </p:spPr>
        <p:txBody>
          <a:bodyPr wrap="square" lIns="0" tIns="0" rIns="0" bIns="0" rtlCol="0" anchor="ctr"/>
          <a:lstStyle/>
          <a:p>
            <a:pPr marL="0" indent="0">
              <a:buNone/>
            </a:pPr>
            <a:r>
              <a:rPr lang="en-US" sz="1350" dirty="0">
                <a:solidFill>
                  <a:srgbClr val="6E6478"/>
                </a:solidFill>
                <a:latin typeface="Calibri" pitchFamily="34" charset="0"/>
                <a:ea typeface="Calibri" pitchFamily="34" charset="-122"/>
                <a:cs typeface="Calibri" pitchFamily="34" charset="-120"/>
              </a:rPr>
              <a:t>Team : </a:t>
            </a:r>
            <a:r>
              <a:rPr lang="en-US" sz="1350" dirty="0" err="1">
                <a:solidFill>
                  <a:srgbClr val="6E6478"/>
                </a:solidFill>
                <a:latin typeface="Calibri" pitchFamily="34" charset="0"/>
                <a:ea typeface="Calibri" pitchFamily="34" charset="-122"/>
                <a:cs typeface="Calibri" pitchFamily="34" charset="-120"/>
              </a:rPr>
              <a:t>Catalyst_IITB_DigitalTwin</a:t>
            </a:r>
            <a:r>
              <a:rPr lang="en-US" sz="1350" dirty="0">
                <a:solidFill>
                  <a:srgbClr val="6E6478"/>
                </a:solidFill>
                <a:latin typeface="Calibri" pitchFamily="34" charset="0"/>
                <a:ea typeface="Calibri" pitchFamily="34" charset="-122"/>
                <a:cs typeface="Calibri" pitchFamily="34" charset="-120"/>
              </a:rPr>
              <a:t> | Accenture Innovation Challenge 2026, Problem Track 4</a:t>
            </a:r>
            <a:endParaRPr lang="en-US" sz="1350" dirty="0"/>
          </a:p>
        </p:txBody>
      </p:sp>
      <p:sp>
        <p:nvSpPr>
          <p:cNvPr id="5" name="Shape 3"/>
          <p:cNvSpPr/>
          <p:nvPr/>
        </p:nvSpPr>
        <p:spPr>
          <a:xfrm>
            <a:off x="548640" y="2103120"/>
            <a:ext cx="3566160" cy="3931920"/>
          </a:xfrm>
          <a:prstGeom prst="roundRect">
            <a:avLst>
              <a:gd name="adj" fmla="val 3077"/>
            </a:avLst>
          </a:prstGeom>
          <a:solidFill>
            <a:srgbClr val="FFFFFF"/>
          </a:solidFill>
          <a:ln w="15875">
            <a:solidFill>
              <a:srgbClr val="E3CFFF"/>
            </a:solidFill>
            <a:prstDash val="solid"/>
          </a:ln>
        </p:spPr>
        <p:txBody>
          <a:bodyPr/>
          <a:lstStyle/>
          <a:p>
            <a:endParaRPr lang="en-IN"/>
          </a:p>
        </p:txBody>
      </p:sp>
      <p:sp>
        <p:nvSpPr>
          <p:cNvPr id="8" name="Text 6"/>
          <p:cNvSpPr txBox="1"/>
          <p:nvPr/>
        </p:nvSpPr>
        <p:spPr>
          <a:xfrm>
            <a:off x="731520" y="4802505"/>
            <a:ext cx="3200400" cy="411480"/>
          </a:xfrm>
          <a:prstGeom prst="rect">
            <a:avLst/>
          </a:prstGeom>
          <a:noFill/>
          <a:ln/>
        </p:spPr>
        <p:txBody>
          <a:bodyPr wrap="square" lIns="0" tIns="0" rIns="0" bIns="0" rtlCol="0" anchor="ctr"/>
          <a:lstStyle/>
          <a:p>
            <a:pPr marL="0" indent="0" algn="ctr">
              <a:buNone/>
            </a:pPr>
            <a:r>
              <a:rPr lang="en-US" sz="1700" b="1" i="1" dirty="0" err="1">
                <a:solidFill>
                  <a:srgbClr val="6E00B3"/>
                </a:solidFill>
                <a:latin typeface="Cambria" pitchFamily="34" charset="0"/>
                <a:ea typeface="Cambria" pitchFamily="34" charset="-122"/>
              </a:rPr>
              <a:t>Apratim</a:t>
            </a:r>
            <a:r>
              <a:rPr lang="en-US" sz="1700" b="1" i="1" dirty="0">
                <a:solidFill>
                  <a:srgbClr val="6E00B3"/>
                </a:solidFill>
                <a:latin typeface="Cambria" pitchFamily="34" charset="0"/>
                <a:ea typeface="Cambria" pitchFamily="34" charset="-122"/>
              </a:rPr>
              <a:t> Anand</a:t>
            </a:r>
            <a:endParaRPr lang="en-US" sz="1700" dirty="0"/>
          </a:p>
        </p:txBody>
      </p:sp>
      <p:sp>
        <p:nvSpPr>
          <p:cNvPr id="9" name="Shape 7"/>
          <p:cNvSpPr/>
          <p:nvPr/>
        </p:nvSpPr>
        <p:spPr>
          <a:xfrm>
            <a:off x="1828800" y="5259705"/>
            <a:ext cx="1005840" cy="0"/>
          </a:xfrm>
          <a:prstGeom prst="line">
            <a:avLst/>
          </a:prstGeom>
          <a:noFill/>
          <a:ln w="15875">
            <a:solidFill>
              <a:srgbClr val="E3CFFF"/>
            </a:solidFill>
            <a:prstDash val="solid"/>
          </a:ln>
        </p:spPr>
        <p:txBody>
          <a:bodyPr/>
          <a:lstStyle/>
          <a:p>
            <a:endParaRPr lang="en-IN"/>
          </a:p>
        </p:txBody>
      </p:sp>
      <p:sp>
        <p:nvSpPr>
          <p:cNvPr id="10" name="Text 8"/>
          <p:cNvSpPr txBox="1"/>
          <p:nvPr/>
        </p:nvSpPr>
        <p:spPr>
          <a:xfrm>
            <a:off x="731520" y="5263514"/>
            <a:ext cx="3200400" cy="502919"/>
          </a:xfrm>
          <a:prstGeom prst="rect">
            <a:avLst/>
          </a:prstGeom>
          <a:noFill/>
          <a:ln/>
        </p:spPr>
        <p:txBody>
          <a:bodyPr wrap="square" lIns="0" tIns="0" rIns="0" bIns="0" rtlCol="0" anchor="ctr"/>
          <a:lstStyle/>
          <a:p>
            <a:pPr lvl="0" algn="ctr">
              <a:defRPr/>
            </a:pPr>
            <a:r>
              <a:rPr lang="en-US" sz="1100" b="1" i="1" dirty="0">
                <a:solidFill>
                  <a:schemeClr val="tx1">
                    <a:lumMod val="50000"/>
                    <a:lumOff val="50000"/>
                  </a:schemeClr>
                </a:solidFill>
              </a:rPr>
              <a:t>College: IIT Bombay</a:t>
            </a:r>
          </a:p>
          <a:p>
            <a:pPr lvl="0" algn="ctr">
              <a:defRPr/>
            </a:pPr>
            <a:r>
              <a:rPr lang="en-US" sz="1100" b="1" i="1" dirty="0">
                <a:solidFill>
                  <a:schemeClr val="tx1">
                    <a:lumMod val="50000"/>
                    <a:lumOff val="50000"/>
                  </a:schemeClr>
                </a:solidFill>
              </a:rPr>
              <a:t>Stream: Applied Geophysics</a:t>
            </a:r>
          </a:p>
        </p:txBody>
      </p:sp>
      <p:sp>
        <p:nvSpPr>
          <p:cNvPr id="11" name="Text 9"/>
          <p:cNvSpPr txBox="1"/>
          <p:nvPr/>
        </p:nvSpPr>
        <p:spPr>
          <a:xfrm>
            <a:off x="822960" y="4709160"/>
            <a:ext cx="3017520" cy="1097280"/>
          </a:xfrm>
          <a:prstGeom prst="rect">
            <a:avLst/>
          </a:prstGeom>
          <a:noFill/>
          <a:ln/>
        </p:spPr>
        <p:txBody>
          <a:bodyPr wrap="square" lIns="0" tIns="0" rIns="0" bIns="0" rtlCol="0" anchor="t"/>
          <a:lstStyle/>
          <a:p>
            <a:pPr marL="0" indent="0" algn="ctr">
              <a:buNone/>
            </a:pPr>
            <a:endParaRPr lang="en-US" sz="1150" dirty="0"/>
          </a:p>
        </p:txBody>
      </p:sp>
      <p:sp>
        <p:nvSpPr>
          <p:cNvPr id="12" name="Shape 10"/>
          <p:cNvSpPr/>
          <p:nvPr/>
        </p:nvSpPr>
        <p:spPr>
          <a:xfrm>
            <a:off x="4297680" y="2103120"/>
            <a:ext cx="3566160" cy="3931920"/>
          </a:xfrm>
          <a:prstGeom prst="roundRect">
            <a:avLst>
              <a:gd name="adj" fmla="val 3077"/>
            </a:avLst>
          </a:prstGeom>
          <a:solidFill>
            <a:srgbClr val="F4EBFF"/>
          </a:solidFill>
          <a:ln w="15875">
            <a:solidFill>
              <a:srgbClr val="E3CFFF"/>
            </a:solidFill>
            <a:prstDash val="solid"/>
          </a:ln>
        </p:spPr>
        <p:txBody>
          <a:bodyPr/>
          <a:lstStyle/>
          <a:p>
            <a:endParaRPr lang="en-IN"/>
          </a:p>
        </p:txBody>
      </p:sp>
      <p:sp>
        <p:nvSpPr>
          <p:cNvPr id="15" name="Text 13"/>
          <p:cNvSpPr txBox="1"/>
          <p:nvPr/>
        </p:nvSpPr>
        <p:spPr>
          <a:xfrm>
            <a:off x="4480560" y="4802505"/>
            <a:ext cx="3200400" cy="411480"/>
          </a:xfrm>
          <a:prstGeom prst="rect">
            <a:avLst/>
          </a:prstGeom>
          <a:noFill/>
          <a:ln/>
        </p:spPr>
        <p:txBody>
          <a:bodyPr wrap="square" lIns="0" tIns="0" rIns="0" bIns="0" rtlCol="0" anchor="ctr"/>
          <a:lstStyle/>
          <a:p>
            <a:pPr marL="0" indent="0" algn="ctr">
              <a:buNone/>
            </a:pPr>
            <a:r>
              <a:rPr lang="en-US" sz="1700" b="1" i="1" dirty="0">
                <a:solidFill>
                  <a:srgbClr val="6E00B3"/>
                </a:solidFill>
                <a:latin typeface="Cambria" pitchFamily="34" charset="0"/>
                <a:ea typeface="Cambria" pitchFamily="34" charset="-122"/>
                <a:cs typeface="Cambria" pitchFamily="34" charset="-120"/>
              </a:rPr>
              <a:t>Sameer Jaiswal</a:t>
            </a:r>
            <a:endParaRPr lang="en-US" sz="1700" dirty="0"/>
          </a:p>
        </p:txBody>
      </p:sp>
      <p:sp>
        <p:nvSpPr>
          <p:cNvPr id="16" name="Shape 14"/>
          <p:cNvSpPr/>
          <p:nvPr/>
        </p:nvSpPr>
        <p:spPr>
          <a:xfrm>
            <a:off x="5577840" y="5259705"/>
            <a:ext cx="1005840" cy="0"/>
          </a:xfrm>
          <a:prstGeom prst="line">
            <a:avLst/>
          </a:prstGeom>
          <a:noFill/>
          <a:ln w="15875">
            <a:solidFill>
              <a:srgbClr val="E3CFFF"/>
            </a:solidFill>
            <a:prstDash val="solid"/>
          </a:ln>
        </p:spPr>
        <p:txBody>
          <a:bodyPr/>
          <a:lstStyle/>
          <a:p>
            <a:endParaRPr lang="en-IN"/>
          </a:p>
        </p:txBody>
      </p:sp>
      <p:sp>
        <p:nvSpPr>
          <p:cNvPr id="17" name="Text 15"/>
          <p:cNvSpPr txBox="1"/>
          <p:nvPr/>
        </p:nvSpPr>
        <p:spPr>
          <a:xfrm>
            <a:off x="4480560" y="5377815"/>
            <a:ext cx="3200400" cy="320040"/>
          </a:xfrm>
          <a:prstGeom prst="rect">
            <a:avLst/>
          </a:prstGeom>
          <a:noFill/>
          <a:ln/>
        </p:spPr>
        <p:txBody>
          <a:bodyPr wrap="square" lIns="0" tIns="0" rIns="0" bIns="0" rtlCol="0" anchor="ctr"/>
          <a:lstStyle/>
          <a:p>
            <a:pPr lvl="0" algn="ctr">
              <a:defRPr/>
            </a:pPr>
            <a:r>
              <a:rPr lang="en-US" sz="1200" b="1" i="1" dirty="0">
                <a:solidFill>
                  <a:schemeClr val="tx1">
                    <a:lumMod val="50000"/>
                    <a:lumOff val="50000"/>
                  </a:schemeClr>
                </a:solidFill>
              </a:rPr>
              <a:t>College: IIT Bombay</a:t>
            </a:r>
          </a:p>
          <a:p>
            <a:pPr lvl="0" algn="ctr">
              <a:defRPr/>
            </a:pPr>
            <a:r>
              <a:rPr lang="en-US" sz="1200" b="1" i="1" dirty="0">
                <a:solidFill>
                  <a:schemeClr val="tx1">
                    <a:lumMod val="50000"/>
                    <a:lumOff val="50000"/>
                  </a:schemeClr>
                </a:solidFill>
              </a:rPr>
              <a:t>Stream: Energy Science &amp; Engineering</a:t>
            </a:r>
          </a:p>
        </p:txBody>
      </p:sp>
      <p:sp>
        <p:nvSpPr>
          <p:cNvPr id="18" name="Text 16"/>
          <p:cNvSpPr txBox="1"/>
          <p:nvPr/>
        </p:nvSpPr>
        <p:spPr>
          <a:xfrm>
            <a:off x="4572000" y="4709160"/>
            <a:ext cx="3017520" cy="1097280"/>
          </a:xfrm>
          <a:prstGeom prst="rect">
            <a:avLst/>
          </a:prstGeom>
          <a:noFill/>
          <a:ln/>
        </p:spPr>
        <p:txBody>
          <a:bodyPr wrap="square" lIns="0" tIns="0" rIns="0" bIns="0" rtlCol="0" anchor="t"/>
          <a:lstStyle/>
          <a:p>
            <a:pPr marL="0" indent="0" algn="ctr">
              <a:buNone/>
            </a:pPr>
            <a:endParaRPr lang="en-US" sz="1150" dirty="0"/>
          </a:p>
        </p:txBody>
      </p:sp>
      <p:sp>
        <p:nvSpPr>
          <p:cNvPr id="19" name="Shape 17"/>
          <p:cNvSpPr/>
          <p:nvPr/>
        </p:nvSpPr>
        <p:spPr>
          <a:xfrm>
            <a:off x="8046720" y="2103120"/>
            <a:ext cx="3566160" cy="3931920"/>
          </a:xfrm>
          <a:prstGeom prst="roundRect">
            <a:avLst>
              <a:gd name="adj" fmla="val 3077"/>
            </a:avLst>
          </a:prstGeom>
          <a:solidFill>
            <a:srgbClr val="FFFFFF"/>
          </a:solidFill>
          <a:ln w="15875">
            <a:solidFill>
              <a:srgbClr val="E3CFFF"/>
            </a:solidFill>
            <a:prstDash val="solid"/>
          </a:ln>
        </p:spPr>
        <p:txBody>
          <a:bodyPr/>
          <a:lstStyle/>
          <a:p>
            <a:endParaRPr lang="en-IN"/>
          </a:p>
        </p:txBody>
      </p:sp>
      <p:sp>
        <p:nvSpPr>
          <p:cNvPr id="22" name="Text 20"/>
          <p:cNvSpPr txBox="1"/>
          <p:nvPr/>
        </p:nvSpPr>
        <p:spPr>
          <a:xfrm>
            <a:off x="8229600" y="4802505"/>
            <a:ext cx="3200400" cy="411480"/>
          </a:xfrm>
          <a:prstGeom prst="rect">
            <a:avLst/>
          </a:prstGeom>
          <a:noFill/>
          <a:ln/>
        </p:spPr>
        <p:txBody>
          <a:bodyPr wrap="square" lIns="0" tIns="0" rIns="0" bIns="0" rtlCol="0" anchor="ctr"/>
          <a:lstStyle/>
          <a:p>
            <a:pPr marL="0" indent="0" algn="ctr">
              <a:buNone/>
            </a:pPr>
            <a:r>
              <a:rPr lang="en-US" sz="1700" b="1" i="1" dirty="0">
                <a:solidFill>
                  <a:srgbClr val="6E00B3"/>
                </a:solidFill>
                <a:latin typeface="Cambria" pitchFamily="34" charset="0"/>
                <a:ea typeface="Cambria" pitchFamily="34" charset="-122"/>
                <a:cs typeface="Cambria" pitchFamily="34" charset="-120"/>
              </a:rPr>
              <a:t>Gaurav Choudhary</a:t>
            </a:r>
            <a:endParaRPr lang="en-US" sz="1700" dirty="0"/>
          </a:p>
        </p:txBody>
      </p:sp>
      <p:sp>
        <p:nvSpPr>
          <p:cNvPr id="23" name="Shape 21"/>
          <p:cNvSpPr/>
          <p:nvPr/>
        </p:nvSpPr>
        <p:spPr>
          <a:xfrm>
            <a:off x="9326880" y="5259705"/>
            <a:ext cx="1005840" cy="0"/>
          </a:xfrm>
          <a:prstGeom prst="line">
            <a:avLst/>
          </a:prstGeom>
          <a:noFill/>
          <a:ln w="15875">
            <a:solidFill>
              <a:srgbClr val="E3CFFF"/>
            </a:solidFill>
            <a:prstDash val="solid"/>
          </a:ln>
        </p:spPr>
        <p:txBody>
          <a:bodyPr/>
          <a:lstStyle/>
          <a:p>
            <a:endParaRPr lang="en-IN"/>
          </a:p>
        </p:txBody>
      </p:sp>
      <p:sp>
        <p:nvSpPr>
          <p:cNvPr id="24" name="Text 22"/>
          <p:cNvSpPr txBox="1"/>
          <p:nvPr/>
        </p:nvSpPr>
        <p:spPr>
          <a:xfrm>
            <a:off x="8229600" y="5368290"/>
            <a:ext cx="3200400" cy="320040"/>
          </a:xfrm>
          <a:prstGeom prst="rect">
            <a:avLst/>
          </a:prstGeom>
          <a:noFill/>
          <a:ln/>
        </p:spPr>
        <p:txBody>
          <a:bodyPr wrap="square" lIns="0" tIns="0" rIns="0" bIns="0" rtlCol="0" anchor="ctr"/>
          <a:lstStyle/>
          <a:p>
            <a:pPr lvl="0" algn="ctr">
              <a:defRPr/>
            </a:pPr>
            <a:r>
              <a:rPr lang="en-US" sz="1200" b="1" i="1" dirty="0">
                <a:solidFill>
                  <a:schemeClr val="tx1">
                    <a:lumMod val="50000"/>
                    <a:lumOff val="50000"/>
                  </a:schemeClr>
                </a:solidFill>
              </a:rPr>
              <a:t>College: IIT Bombay</a:t>
            </a:r>
          </a:p>
          <a:p>
            <a:pPr lvl="0" algn="ctr">
              <a:defRPr/>
            </a:pPr>
            <a:r>
              <a:rPr lang="en-US" sz="1200" b="1" i="1" dirty="0">
                <a:solidFill>
                  <a:schemeClr val="tx1">
                    <a:lumMod val="50000"/>
                    <a:lumOff val="50000"/>
                  </a:schemeClr>
                </a:solidFill>
              </a:rPr>
              <a:t>Stream: Applied Geophysics</a:t>
            </a:r>
          </a:p>
        </p:txBody>
      </p:sp>
      <p:sp>
        <p:nvSpPr>
          <p:cNvPr id="25" name="Text 23"/>
          <p:cNvSpPr txBox="1"/>
          <p:nvPr/>
        </p:nvSpPr>
        <p:spPr>
          <a:xfrm>
            <a:off x="8321040" y="4709160"/>
            <a:ext cx="3017520" cy="1097280"/>
          </a:xfrm>
          <a:prstGeom prst="rect">
            <a:avLst/>
          </a:prstGeom>
          <a:noFill/>
          <a:ln/>
        </p:spPr>
        <p:txBody>
          <a:bodyPr wrap="square" lIns="0" tIns="0" rIns="0" bIns="0" rtlCol="0" anchor="t"/>
          <a:lstStyle/>
          <a:p>
            <a:pPr marL="0" indent="0" algn="ctr">
              <a:buNone/>
            </a:pPr>
            <a:endParaRPr lang="en-US" sz="1150" dirty="0"/>
          </a:p>
        </p:txBody>
      </p:sp>
      <p:sp>
        <p:nvSpPr>
          <p:cNvPr id="27" name="Text 25"/>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01</a:t>
            </a:r>
            <a:endParaRPr lang="en-US" sz="950" dirty="0"/>
          </a:p>
        </p:txBody>
      </p:sp>
      <p:sp>
        <p:nvSpPr>
          <p:cNvPr id="28" name="Shape 26"/>
          <p:cNvSpPr/>
          <p:nvPr/>
        </p:nvSpPr>
        <p:spPr>
          <a:xfrm>
            <a:off x="11899087" y="6583680"/>
            <a:ext cx="109728" cy="109728"/>
          </a:xfrm>
          <a:prstGeom prst="ellipse">
            <a:avLst/>
          </a:prstGeom>
          <a:solidFill>
            <a:srgbClr val="A100FF"/>
          </a:solidFill>
          <a:ln/>
        </p:spPr>
        <p:txBody>
          <a:bodyPr/>
          <a:lstStyle/>
          <a:p>
            <a:endParaRPr lang="en-IN"/>
          </a:p>
        </p:txBody>
      </p:sp>
      <p:pic>
        <p:nvPicPr>
          <p:cNvPr id="31" name="Picture 30">
            <a:extLst>
              <a:ext uri="{FF2B5EF4-FFF2-40B4-BE49-F238E27FC236}">
                <a16:creationId xmlns:a16="http://schemas.microsoft.com/office/drawing/2014/main" id="{038C62C1-5F2C-7F41-4928-C405EA50C8C7}"/>
              </a:ext>
            </a:extLst>
          </p:cNvPr>
          <p:cNvPicPr>
            <a:picLocks noChangeAspect="1"/>
          </p:cNvPicPr>
          <p:nvPr/>
        </p:nvPicPr>
        <p:blipFill>
          <a:blip r:embed="rId3"/>
          <a:stretch>
            <a:fillRect/>
          </a:stretch>
        </p:blipFill>
        <p:spPr>
          <a:xfrm>
            <a:off x="1365885" y="2514600"/>
            <a:ext cx="1962149" cy="1962149"/>
          </a:xfrm>
          <a:prstGeom prst="rect">
            <a:avLst/>
          </a:prstGeom>
        </p:spPr>
      </p:pic>
      <p:pic>
        <p:nvPicPr>
          <p:cNvPr id="32" name="Picture 31">
            <a:extLst>
              <a:ext uri="{FF2B5EF4-FFF2-40B4-BE49-F238E27FC236}">
                <a16:creationId xmlns:a16="http://schemas.microsoft.com/office/drawing/2014/main" id="{8332D457-3A97-3AED-4CBD-0E0E11521F1F}"/>
              </a:ext>
            </a:extLst>
          </p:cNvPr>
          <p:cNvPicPr>
            <a:picLocks noChangeAspect="1"/>
          </p:cNvPicPr>
          <p:nvPr/>
        </p:nvPicPr>
        <p:blipFill>
          <a:blip r:embed="rId4"/>
          <a:stretch>
            <a:fillRect/>
          </a:stretch>
        </p:blipFill>
        <p:spPr>
          <a:xfrm>
            <a:off x="5114925" y="2518982"/>
            <a:ext cx="1962149" cy="1962149"/>
          </a:xfrm>
          <a:prstGeom prst="rect">
            <a:avLst/>
          </a:prstGeom>
        </p:spPr>
      </p:pic>
      <p:pic>
        <p:nvPicPr>
          <p:cNvPr id="33" name="Picture 32">
            <a:extLst>
              <a:ext uri="{FF2B5EF4-FFF2-40B4-BE49-F238E27FC236}">
                <a16:creationId xmlns:a16="http://schemas.microsoft.com/office/drawing/2014/main" id="{AE2A6950-BD50-1111-A644-4193370CD9AE}"/>
              </a:ext>
            </a:extLst>
          </p:cNvPr>
          <p:cNvPicPr>
            <a:picLocks noChangeAspect="1"/>
          </p:cNvPicPr>
          <p:nvPr/>
        </p:nvPicPr>
        <p:blipFill>
          <a:blip r:embed="rId5"/>
          <a:stretch>
            <a:fillRect/>
          </a:stretch>
        </p:blipFill>
        <p:spPr>
          <a:xfrm>
            <a:off x="8810625" y="2514600"/>
            <a:ext cx="1962149" cy="19621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EXECUTIVE SUMMARY</a:t>
            </a:r>
            <a:endParaRPr lang="en-US" sz="1150" dirty="0"/>
          </a:p>
        </p:txBody>
      </p:sp>
      <p:sp>
        <p:nvSpPr>
          <p:cNvPr id="3" name="Text 1"/>
          <p:cNvSpPr txBox="1"/>
          <p:nvPr/>
        </p:nvSpPr>
        <p:spPr>
          <a:xfrm>
            <a:off x="558165" y="658368"/>
            <a:ext cx="9601200" cy="777240"/>
          </a:xfrm>
          <a:prstGeom prst="rect">
            <a:avLst/>
          </a:prstGeom>
          <a:noFill/>
          <a:ln/>
        </p:spPr>
        <p:txBody>
          <a:bodyPr wrap="square" lIns="0" tIns="0" rIns="0" bIns="0" rtlCol="0" anchor="ctr"/>
          <a:lstStyle/>
          <a:p>
            <a:pPr marL="0" indent="0">
              <a:buNone/>
            </a:pPr>
            <a:r>
              <a:rPr lang="en-US" sz="3000" b="1" dirty="0">
                <a:solidFill>
                  <a:srgbClr val="231A2E"/>
                </a:solidFill>
                <a:latin typeface="Cambria" pitchFamily="34" charset="0"/>
                <a:ea typeface="Cambria" pitchFamily="34" charset="-122"/>
              </a:rPr>
              <a:t>Overall Outline</a:t>
            </a:r>
            <a:endParaRPr lang="en-US" sz="3000" dirty="0"/>
          </a:p>
        </p:txBody>
      </p:sp>
      <p:sp>
        <p:nvSpPr>
          <p:cNvPr id="4" name="Text 2"/>
          <p:cNvSpPr txBox="1"/>
          <p:nvPr/>
        </p:nvSpPr>
        <p:spPr>
          <a:xfrm>
            <a:off x="548640" y="1554480"/>
            <a:ext cx="11064240" cy="3017520"/>
          </a:xfrm>
          <a:prstGeom prst="rect">
            <a:avLst/>
          </a:prstGeom>
          <a:noFill/>
          <a:ln/>
        </p:spPr>
        <p:txBody>
          <a:bodyPr wrap="square" lIns="0" tIns="0" rIns="0" bIns="0" rtlCol="0" anchor="t"/>
          <a:lstStyle/>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This proposal presents DigitalTwin.ai, a predictive-prescriptive digital twin developed for vehicle assembly line operations under Problem Track 4 of the Accenture Innovation Challenge 2026. The solution addresses a persistent and costly gap in manufacturing operations, i.e. the inability to detect bottlenecks and defects before they propagate downstream and surface as scrap, rework, or unplanned line stoppage.</a:t>
            </a:r>
            <a:endParaRPr lang="en-US" sz="1400" dirty="0"/>
          </a:p>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Using a graph-based forecasting model, DigitalTwin.ai predicts station-level operating conditions five to thirty minutes in advance, identifies the station at which an emerging anomaly most likely originated, and recommends a corrective action to the appropriate operating role, based  on a premade rule book. The prototype has been validated on an eighteen-station simulated assembly line incorporating a realistic distribution of sensor coverage, and demonstrates a measurable improvement in forecast accuracy when inter-station dependencies are modelled explicitly.</a:t>
            </a:r>
            <a:endParaRPr lang="en-US" sz="1400" dirty="0"/>
          </a:p>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This document sets out the business rationale, technical approach, expected impact, phased implementation plan, and associated risks, and concludes with a request for a ninety-day pilot engagement on a single production line to validate the solution under real operating conditions.</a:t>
            </a:r>
            <a:endParaRPr lang="en-US" sz="1400" dirty="0"/>
          </a:p>
        </p:txBody>
      </p:sp>
      <p:sp>
        <p:nvSpPr>
          <p:cNvPr id="6" name="Text 4"/>
          <p:cNvSpPr txBox="1"/>
          <p:nvPr/>
        </p:nvSpPr>
        <p:spPr>
          <a:xfrm>
            <a:off x="731520" y="4928616"/>
            <a:ext cx="3200400" cy="548640"/>
          </a:xfrm>
          <a:prstGeom prst="rect">
            <a:avLst/>
          </a:prstGeom>
          <a:noFill/>
          <a:ln/>
        </p:spPr>
        <p:txBody>
          <a:bodyPr wrap="square" lIns="0" tIns="0" rIns="0" bIns="0" rtlCol="0" anchor="ctr"/>
          <a:lstStyle/>
          <a:p>
            <a:pPr marL="0" indent="0">
              <a:buNone/>
            </a:pPr>
            <a:r>
              <a:rPr lang="en-US" sz="2800" b="1" dirty="0">
                <a:solidFill>
                  <a:srgbClr val="6E00B3"/>
                </a:solidFill>
                <a:latin typeface="Cambria" pitchFamily="34" charset="0"/>
                <a:ea typeface="Cambria" pitchFamily="34" charset="-122"/>
                <a:cs typeface="Cambria" pitchFamily="34" charset="-120"/>
              </a:rPr>
              <a:t>23%</a:t>
            </a:r>
            <a:endParaRPr lang="en-US" sz="2800" dirty="0"/>
          </a:p>
        </p:txBody>
      </p:sp>
      <p:sp>
        <p:nvSpPr>
          <p:cNvPr id="7" name="Text 5"/>
          <p:cNvSpPr txBox="1"/>
          <p:nvPr/>
        </p:nvSpPr>
        <p:spPr>
          <a:xfrm>
            <a:off x="749808" y="5513832"/>
            <a:ext cx="3163824" cy="777240"/>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Reduction in downstream forecast error when station interdependencies are modelled</a:t>
            </a:r>
            <a:endParaRPr lang="en-US" sz="1200" dirty="0"/>
          </a:p>
        </p:txBody>
      </p:sp>
      <p:sp>
        <p:nvSpPr>
          <p:cNvPr id="9" name="Text 7"/>
          <p:cNvSpPr txBox="1"/>
          <p:nvPr/>
        </p:nvSpPr>
        <p:spPr>
          <a:xfrm>
            <a:off x="4480560" y="4928616"/>
            <a:ext cx="3200400" cy="548640"/>
          </a:xfrm>
          <a:prstGeom prst="rect">
            <a:avLst/>
          </a:prstGeom>
          <a:noFill/>
          <a:ln/>
        </p:spPr>
        <p:txBody>
          <a:bodyPr wrap="square" lIns="0" tIns="0" rIns="0" bIns="0" rtlCol="0" anchor="ctr"/>
          <a:lstStyle/>
          <a:p>
            <a:pPr marL="0" indent="0">
              <a:buNone/>
            </a:pPr>
            <a:r>
              <a:rPr lang="en-US" sz="2800" b="1" dirty="0">
                <a:solidFill>
                  <a:srgbClr val="6E00B3"/>
                </a:solidFill>
                <a:latin typeface="Cambria" pitchFamily="34" charset="0"/>
                <a:ea typeface="Cambria" pitchFamily="34" charset="-122"/>
                <a:cs typeface="Cambria" pitchFamily="34" charset="-120"/>
              </a:rPr>
              <a:t>18</a:t>
            </a:r>
            <a:endParaRPr lang="en-US" sz="2800" dirty="0"/>
          </a:p>
        </p:txBody>
      </p:sp>
      <p:sp>
        <p:nvSpPr>
          <p:cNvPr id="10" name="Text 8"/>
          <p:cNvSpPr txBox="1"/>
          <p:nvPr/>
        </p:nvSpPr>
        <p:spPr>
          <a:xfrm>
            <a:off x="4498848" y="5513832"/>
            <a:ext cx="3163824" cy="777240"/>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Station simulated line validated in the current prototype; the approach extends to 30–50</a:t>
            </a:r>
            <a:endParaRPr lang="en-US" sz="1200" dirty="0"/>
          </a:p>
        </p:txBody>
      </p:sp>
      <p:sp>
        <p:nvSpPr>
          <p:cNvPr id="14" name="Text 12"/>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02</a:t>
            </a:r>
            <a:endParaRPr lang="en-US" sz="950" dirty="0"/>
          </a:p>
        </p:txBody>
      </p:sp>
      <p:sp>
        <p:nvSpPr>
          <p:cNvPr id="15" name="Shape 13"/>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BUSINESS PROBLEM &amp; CONTEXT</a:t>
            </a:r>
            <a:endParaRPr lang="en-US" sz="1150" dirty="0"/>
          </a:p>
        </p:txBody>
      </p:sp>
      <p:sp>
        <p:nvSpPr>
          <p:cNvPr id="3" name="Text 1"/>
          <p:cNvSpPr txBox="1"/>
          <p:nvPr/>
        </p:nvSpPr>
        <p:spPr>
          <a:xfrm>
            <a:off x="548640" y="658368"/>
            <a:ext cx="10515600" cy="777240"/>
          </a:xfrm>
          <a:prstGeom prst="rect">
            <a:avLst/>
          </a:prstGeom>
          <a:noFill/>
          <a:ln/>
        </p:spPr>
        <p:txBody>
          <a:bodyPr wrap="square" lIns="0" tIns="0" rIns="0" bIns="0" rtlCol="0" anchor="ctr"/>
          <a:lstStyle/>
          <a:p>
            <a:pPr marL="0" indent="0">
              <a:buNone/>
            </a:pPr>
            <a:r>
              <a:rPr lang="en-US" sz="2800" b="1" dirty="0">
                <a:solidFill>
                  <a:srgbClr val="231A2E"/>
                </a:solidFill>
                <a:latin typeface="Cambria" pitchFamily="34" charset="0"/>
                <a:ea typeface="Cambria" pitchFamily="34" charset="-122"/>
                <a:cs typeface="Cambria" pitchFamily="34" charset="-120"/>
              </a:rPr>
              <a:t>The Cost of Detecting Problems Too Late</a:t>
            </a:r>
            <a:endParaRPr lang="en-US" sz="2800" dirty="0"/>
          </a:p>
        </p:txBody>
      </p:sp>
      <p:sp>
        <p:nvSpPr>
          <p:cNvPr id="4" name="Text 2"/>
          <p:cNvSpPr txBox="1"/>
          <p:nvPr/>
        </p:nvSpPr>
        <p:spPr>
          <a:xfrm>
            <a:off x="548640" y="1481328"/>
            <a:ext cx="6903720" cy="4754880"/>
          </a:xfrm>
          <a:prstGeom prst="rect">
            <a:avLst/>
          </a:prstGeom>
          <a:noFill/>
          <a:ln/>
        </p:spPr>
        <p:txBody>
          <a:bodyPr wrap="square" lIns="0" tIns="0" rIns="0" bIns="0" rtlCol="0" anchor="t"/>
          <a:lstStyle/>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Modern vehicle assembly lines operate as sequences of thirty to fifty interdependent stations spanning body construction, paint, and final assembly. A deviation at any single station a gradual increase in cycle time, a drift in process parameters, or an intermittent quality defect rarely remains isolated. It propagates downstream and frequently surfaces only at a later inspection point, by which time a substantial number of units may already carry the same undetected condition.</a:t>
            </a:r>
            <a:endParaRPr lang="en-US" sz="1400" dirty="0"/>
          </a:p>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Existing monitoring infrastructure in most plants is reactive by design, alerts and quality flags are generated after a fault has already occurred, at which point the associated cost, in scrap, rework, missed shipments, or unplanned stoppage, has already been incurred.</a:t>
            </a:r>
            <a:endParaRPr lang="en-US" sz="1400" dirty="0"/>
          </a:p>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A further complicating factor is that most assembly lines are </a:t>
            </a:r>
            <a:r>
              <a:rPr lang="en-US" sz="1400" b="1" dirty="0">
                <a:solidFill>
                  <a:srgbClr val="231A2E"/>
                </a:solidFill>
                <a:latin typeface="Calibri" pitchFamily="34" charset="0"/>
                <a:ea typeface="Calibri" pitchFamily="34" charset="-122"/>
                <a:cs typeface="Calibri" pitchFamily="34" charset="-120"/>
              </a:rPr>
              <a:t>not uniformly instrumented</a:t>
            </a:r>
            <a:r>
              <a:rPr lang="en-US" sz="1400" dirty="0">
                <a:solidFill>
                  <a:srgbClr val="231A2E"/>
                </a:solidFill>
                <a:latin typeface="Calibri" pitchFamily="34" charset="0"/>
                <a:ea typeface="Calibri" pitchFamily="34" charset="-122"/>
                <a:cs typeface="Calibri" pitchFamily="34" charset="-120"/>
              </a:rPr>
              <a:t>. They represent a layered accumulation of equipment installed across different periods, resulting in </a:t>
            </a:r>
            <a:r>
              <a:rPr lang="en-US" sz="1400" b="1" dirty="0">
                <a:solidFill>
                  <a:srgbClr val="231A2E"/>
                </a:solidFill>
                <a:latin typeface="Calibri" pitchFamily="34" charset="0"/>
                <a:ea typeface="Calibri" pitchFamily="34" charset="-122"/>
                <a:cs typeface="Calibri" pitchFamily="34" charset="-120"/>
              </a:rPr>
              <a:t>stations with modern sensor arrays alongside stations with only partial or indirect signal availability</a:t>
            </a:r>
            <a:r>
              <a:rPr lang="en-US" sz="1400" dirty="0">
                <a:solidFill>
                  <a:srgbClr val="231A2E"/>
                </a:solidFill>
                <a:latin typeface="Calibri" pitchFamily="34" charset="0"/>
                <a:ea typeface="Calibri" pitchFamily="34" charset="-122"/>
                <a:cs typeface="Calibri" pitchFamily="34" charset="-120"/>
              </a:rPr>
              <a:t>, and others that rely entirely on manual checklists. A solution intended for real-world deployment must operate credibly across this uneven instrumentation landscape, rather than assuming an idealised, fully sensored line.</a:t>
            </a:r>
            <a:endParaRPr lang="en-US" sz="1400" dirty="0"/>
          </a:p>
        </p:txBody>
      </p:sp>
      <p:sp>
        <p:nvSpPr>
          <p:cNvPr id="6" name="Text 4"/>
          <p:cNvSpPr txBox="1"/>
          <p:nvPr/>
        </p:nvSpPr>
        <p:spPr>
          <a:xfrm>
            <a:off x="7772400" y="1691640"/>
            <a:ext cx="3840480" cy="731520"/>
          </a:xfrm>
          <a:prstGeom prst="rect">
            <a:avLst/>
          </a:prstGeom>
          <a:noFill/>
          <a:ln/>
        </p:spPr>
        <p:txBody>
          <a:bodyPr wrap="square" lIns="0" tIns="0" rIns="0" bIns="0" rtlCol="0" anchor="ctr"/>
          <a:lstStyle/>
          <a:p>
            <a:pPr marL="0" indent="0" algn="ctr">
              <a:buNone/>
            </a:pPr>
            <a:r>
              <a:rPr lang="en-US" sz="3200" b="1" dirty="0">
                <a:solidFill>
                  <a:srgbClr val="6E00B3"/>
                </a:solidFill>
                <a:latin typeface="Cambria" pitchFamily="34" charset="0"/>
                <a:ea typeface="Cambria" pitchFamily="34" charset="-122"/>
                <a:cs typeface="Cambria" pitchFamily="34" charset="-120"/>
              </a:rPr>
              <a:t>$20K–$50K</a:t>
            </a:r>
            <a:endParaRPr lang="en-US" sz="3200" dirty="0"/>
          </a:p>
        </p:txBody>
      </p:sp>
      <p:sp>
        <p:nvSpPr>
          <p:cNvPr id="7" name="Text 5"/>
          <p:cNvSpPr txBox="1"/>
          <p:nvPr/>
        </p:nvSpPr>
        <p:spPr>
          <a:xfrm>
            <a:off x="8001000" y="2423160"/>
            <a:ext cx="3383280" cy="914400"/>
          </a:xfrm>
          <a:prstGeom prst="rect">
            <a:avLst/>
          </a:prstGeom>
          <a:noFill/>
          <a:ln/>
        </p:spPr>
        <p:txBody>
          <a:bodyPr wrap="square" lIns="0" tIns="0" rIns="0" bIns="0" rtlCol="0" anchor="ctr"/>
          <a:lstStyle/>
          <a:p>
            <a:pPr marL="0" indent="0" algn="ctr">
              <a:buNone/>
            </a:pPr>
            <a:r>
              <a:rPr lang="en-US" sz="1200" dirty="0">
                <a:solidFill>
                  <a:srgbClr val="231A2E"/>
                </a:solidFill>
                <a:latin typeface="Calibri" pitchFamily="34" charset="0"/>
                <a:ea typeface="Calibri" pitchFamily="34" charset="-122"/>
                <a:cs typeface="Calibri" pitchFamily="34" charset="-120"/>
              </a:rPr>
              <a:t>Lost per minute of unplanned downtime on a high-volume automotive assembly line</a:t>
            </a:r>
            <a:endParaRPr lang="en-US" sz="1200" dirty="0"/>
          </a:p>
        </p:txBody>
      </p:sp>
      <p:sp>
        <p:nvSpPr>
          <p:cNvPr id="8" name="Text 6"/>
          <p:cNvSpPr txBox="1"/>
          <p:nvPr/>
        </p:nvSpPr>
        <p:spPr>
          <a:xfrm>
            <a:off x="8001000" y="3291840"/>
            <a:ext cx="3383280" cy="320040"/>
          </a:xfrm>
          <a:prstGeom prst="rect">
            <a:avLst/>
          </a:prstGeom>
          <a:noFill/>
          <a:ln/>
        </p:spPr>
        <p:txBody>
          <a:bodyPr wrap="square" lIns="0" tIns="0" rIns="0" bIns="0" rtlCol="0" anchor="ctr"/>
          <a:lstStyle/>
          <a:p>
            <a:pPr marL="0" indent="0" algn="ctr">
              <a:buNone/>
            </a:pPr>
            <a:r>
              <a:rPr lang="en-US" sz="900" i="1" dirty="0">
                <a:solidFill>
                  <a:srgbClr val="6E6478"/>
                </a:solidFill>
                <a:latin typeface="Calibri" pitchFamily="34" charset="0"/>
                <a:ea typeface="Calibri" pitchFamily="34" charset="-122"/>
                <a:cs typeface="Calibri" pitchFamily="34" charset="-120"/>
              </a:rPr>
              <a:t>Source: manufacturing-cost benchmarks (Aberdeen Research, Siemens, industry press), 2025–26</a:t>
            </a:r>
            <a:endParaRPr lang="en-US" sz="900" dirty="0"/>
          </a:p>
        </p:txBody>
      </p:sp>
      <p:sp>
        <p:nvSpPr>
          <p:cNvPr id="9" name="Shape 7"/>
          <p:cNvSpPr/>
          <p:nvPr/>
        </p:nvSpPr>
        <p:spPr>
          <a:xfrm>
            <a:off x="7772400" y="3794760"/>
            <a:ext cx="3840480" cy="2423160"/>
          </a:xfrm>
          <a:prstGeom prst="roundRect">
            <a:avLst>
              <a:gd name="adj" fmla="val 4528"/>
            </a:avLst>
          </a:prstGeom>
          <a:solidFill>
            <a:srgbClr val="160221"/>
          </a:solidFill>
          <a:ln/>
        </p:spPr>
        <p:txBody>
          <a:bodyPr/>
          <a:lstStyle/>
          <a:p>
            <a:endParaRPr lang="en-IN"/>
          </a:p>
        </p:txBody>
      </p:sp>
      <p:sp>
        <p:nvSpPr>
          <p:cNvPr id="10" name="Text 8"/>
          <p:cNvSpPr txBox="1"/>
          <p:nvPr/>
        </p:nvSpPr>
        <p:spPr>
          <a:xfrm>
            <a:off x="8001000" y="3794760"/>
            <a:ext cx="3383280" cy="2423160"/>
          </a:xfrm>
          <a:prstGeom prst="rect">
            <a:avLst/>
          </a:prstGeom>
          <a:noFill/>
          <a:ln/>
        </p:spPr>
        <p:txBody>
          <a:bodyPr wrap="square" lIns="0" tIns="0" rIns="0" bIns="0" rtlCol="0" anchor="ctr"/>
          <a:lstStyle/>
          <a:p>
            <a:r>
              <a:rPr lang="en-US" sz="1200" b="1" dirty="0">
                <a:solidFill>
                  <a:srgbClr val="A100FF"/>
                </a:solidFill>
                <a:latin typeface="Calibri" pitchFamily="34" charset="0"/>
                <a:ea typeface="Calibri" pitchFamily="34" charset="-122"/>
                <a:cs typeface="Calibri" pitchFamily="34" charset="-120"/>
              </a:rPr>
              <a:t>Instrumentation reality: </a:t>
            </a:r>
            <a:r>
              <a:rPr lang="en-US" sz="1200" dirty="0">
                <a:solidFill>
                  <a:srgbClr val="FFFFFF"/>
                </a:solidFill>
                <a:latin typeface="Calibri" pitchFamily="34" charset="0"/>
                <a:ea typeface="Calibri" pitchFamily="34" charset="-122"/>
                <a:cs typeface="Calibri" pitchFamily="34" charset="-120"/>
              </a:rPr>
              <a:t>On a typical assembly line, roughly one in four stations provides only partial or manual signal coverage, and physical upgrades are constrained to a small number of scheduled maintenance windows per year.</a:t>
            </a:r>
            <a:endParaRPr lang="en-US" sz="1200" dirty="0"/>
          </a:p>
        </p:txBody>
      </p:sp>
      <p:sp>
        <p:nvSpPr>
          <p:cNvPr id="11" name="Text 9"/>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03</a:t>
            </a:r>
            <a:endParaRPr lang="en-US" sz="950" dirty="0"/>
          </a:p>
        </p:txBody>
      </p:sp>
      <p:sp>
        <p:nvSpPr>
          <p:cNvPr id="12" name="Shape 10"/>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PROPOSED SOLUTION</a:t>
            </a:r>
            <a:endParaRPr lang="en-US" sz="1150" dirty="0"/>
          </a:p>
        </p:txBody>
      </p:sp>
      <p:sp>
        <p:nvSpPr>
          <p:cNvPr id="3" name="Text 1"/>
          <p:cNvSpPr txBox="1"/>
          <p:nvPr/>
        </p:nvSpPr>
        <p:spPr>
          <a:xfrm>
            <a:off x="548640" y="658368"/>
            <a:ext cx="10972800" cy="777240"/>
          </a:xfrm>
          <a:prstGeom prst="rect">
            <a:avLst/>
          </a:prstGeom>
          <a:noFill/>
          <a:ln/>
        </p:spPr>
        <p:txBody>
          <a:bodyPr wrap="square" lIns="0" tIns="0" rIns="0" bIns="0" rtlCol="0" anchor="ctr"/>
          <a:lstStyle/>
          <a:p>
            <a:pPr marL="0" indent="0">
              <a:buNone/>
            </a:pPr>
            <a:r>
              <a:rPr lang="en-US" sz="2700" b="1" dirty="0">
                <a:solidFill>
                  <a:srgbClr val="231A2E"/>
                </a:solidFill>
                <a:latin typeface="Cambria" pitchFamily="34" charset="0"/>
                <a:ea typeface="Cambria" pitchFamily="34" charset="-122"/>
                <a:cs typeface="Cambria" pitchFamily="34" charset="-120"/>
              </a:rPr>
              <a:t>A Predictive Layer Alongside Existing Plant Systems</a:t>
            </a:r>
            <a:endParaRPr lang="en-US" sz="2700" dirty="0"/>
          </a:p>
        </p:txBody>
      </p:sp>
      <p:sp>
        <p:nvSpPr>
          <p:cNvPr id="4" name="Text 2"/>
          <p:cNvSpPr txBox="1"/>
          <p:nvPr/>
        </p:nvSpPr>
        <p:spPr>
          <a:xfrm>
            <a:off x="548640" y="1481328"/>
            <a:ext cx="11064240" cy="960120"/>
          </a:xfrm>
          <a:prstGeom prst="rect">
            <a:avLst/>
          </a:prstGeom>
          <a:noFill/>
          <a:ln/>
        </p:spPr>
        <p:txBody>
          <a:bodyPr wrap="square" lIns="0" tIns="0" rIns="0" bIns="0" rtlCol="0" anchor="t"/>
          <a:lstStyle/>
          <a:p>
            <a:pPr>
              <a:spcAft>
                <a:spcPts val="1200"/>
              </a:spcAft>
            </a:pPr>
            <a:r>
              <a:rPr lang="en-US" sz="1400" dirty="0">
                <a:solidFill>
                  <a:srgbClr val="231A2E"/>
                </a:solidFill>
                <a:latin typeface="Calibri" pitchFamily="34" charset="0"/>
                <a:ea typeface="Calibri" pitchFamily="34" charset="-122"/>
                <a:cs typeface="Calibri" pitchFamily="34" charset="-120"/>
              </a:rPr>
              <a:t>DigitalTwin.ai is proposed as a continuous, predictive layer positioned alongside existing plant systems rather than as a replacement for them. Its function is to observe the operating state of every station on the line, forecast near-term deviations before they manifest as measurable defects or slowdowns, and communicate both the nature and probable origin of an emerging issue to plant personnel, together with a recommended corrective action.</a:t>
            </a:r>
            <a:r>
              <a:rPr lang="en-US" sz="1400" i="1" dirty="0">
                <a:solidFill>
                  <a:srgbClr val="6E6478"/>
                </a:solidFill>
                <a:latin typeface="Calibri" pitchFamily="34" charset="0"/>
                <a:ea typeface="Calibri" pitchFamily="34" charset="-122"/>
                <a:cs typeface="Calibri" pitchFamily="34" charset="-120"/>
              </a:rPr>
              <a:t> </a:t>
            </a:r>
            <a:r>
              <a:rPr lang="en-US" sz="1400" b="1" i="1" dirty="0">
                <a:solidFill>
                  <a:srgbClr val="6E6478"/>
                </a:solidFill>
                <a:latin typeface="Calibri" pitchFamily="34" charset="0"/>
                <a:ea typeface="Calibri" pitchFamily="34" charset="-122"/>
                <a:cs typeface="Calibri" pitchFamily="34" charset="-120"/>
              </a:rPr>
              <a:t>This structure allows the system to function meaningfully even where sensor coverage is incomplete.</a:t>
            </a:r>
            <a:endParaRPr lang="en-US" sz="1400" b="1" dirty="0"/>
          </a:p>
          <a:p>
            <a:pPr marL="0" indent="0">
              <a:spcAft>
                <a:spcPts val="1200"/>
              </a:spcAft>
              <a:buNone/>
            </a:pPr>
            <a:endParaRPr lang="en-US" sz="1400" dirty="0"/>
          </a:p>
        </p:txBody>
      </p:sp>
      <p:sp>
        <p:nvSpPr>
          <p:cNvPr id="5" name="Shape 3"/>
          <p:cNvSpPr/>
          <p:nvPr/>
        </p:nvSpPr>
        <p:spPr>
          <a:xfrm>
            <a:off x="548640" y="2606040"/>
            <a:ext cx="2057400" cy="3383280"/>
          </a:xfrm>
          <a:prstGeom prst="roundRect">
            <a:avLst>
              <a:gd name="adj" fmla="val 4444"/>
            </a:avLst>
          </a:prstGeom>
          <a:solidFill>
            <a:srgbClr val="F4EBFF"/>
          </a:solidFill>
          <a:ln w="12700">
            <a:solidFill>
              <a:srgbClr val="E3CFFF"/>
            </a:solidFill>
            <a:prstDash val="solid"/>
          </a:ln>
        </p:spPr>
        <p:txBody>
          <a:bodyPr/>
          <a:lstStyle/>
          <a:p>
            <a:endParaRPr lang="en-IN"/>
          </a:p>
        </p:txBody>
      </p:sp>
      <p:sp>
        <p:nvSpPr>
          <p:cNvPr id="6" name="Shape 4"/>
          <p:cNvSpPr/>
          <p:nvPr/>
        </p:nvSpPr>
        <p:spPr>
          <a:xfrm>
            <a:off x="1284732" y="2862072"/>
            <a:ext cx="585216" cy="585216"/>
          </a:xfrm>
          <a:prstGeom prst="ellipse">
            <a:avLst/>
          </a:prstGeom>
          <a:solidFill>
            <a:srgbClr val="A100FF"/>
          </a:solidFill>
          <a:ln/>
        </p:spPr>
        <p:txBody>
          <a:bodyPr/>
          <a:lstStyle/>
          <a:p>
            <a:endParaRPr lang="en-IN"/>
          </a:p>
        </p:txBody>
      </p:sp>
      <p:sp>
        <p:nvSpPr>
          <p:cNvPr id="7" name="Text 5"/>
          <p:cNvSpPr txBox="1"/>
          <p:nvPr/>
        </p:nvSpPr>
        <p:spPr>
          <a:xfrm>
            <a:off x="1284732" y="2862072"/>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640080" y="3566160"/>
            <a:ext cx="1874520" cy="365760"/>
          </a:xfrm>
          <a:prstGeom prst="rect">
            <a:avLst/>
          </a:prstGeom>
          <a:noFill/>
          <a:ln/>
        </p:spPr>
        <p:txBody>
          <a:bodyPr wrap="square" lIns="0" tIns="0" rIns="0" bIns="0" rtlCol="0" anchor="ctr"/>
          <a:lstStyle/>
          <a:p>
            <a:pPr marL="0" indent="0" algn="ctr">
              <a:buNone/>
            </a:pPr>
            <a:r>
              <a:rPr lang="en-US" sz="1500" b="1" dirty="0">
                <a:solidFill>
                  <a:srgbClr val="6E00B3"/>
                </a:solidFill>
                <a:latin typeface="Cambria" pitchFamily="34" charset="0"/>
                <a:ea typeface="Cambria" pitchFamily="34" charset="-122"/>
                <a:cs typeface="Cambria" pitchFamily="34" charset="-120"/>
              </a:rPr>
              <a:t>Acquire</a:t>
            </a:r>
            <a:endParaRPr lang="en-US" sz="1500" dirty="0"/>
          </a:p>
        </p:txBody>
      </p:sp>
      <p:sp>
        <p:nvSpPr>
          <p:cNvPr id="9" name="Text 7"/>
          <p:cNvSpPr txBox="1"/>
          <p:nvPr/>
        </p:nvSpPr>
        <p:spPr>
          <a:xfrm>
            <a:off x="713232" y="3977640"/>
            <a:ext cx="1728216" cy="1874520"/>
          </a:xfrm>
          <a:prstGeom prst="rect">
            <a:avLst/>
          </a:prstGeom>
          <a:noFill/>
          <a:ln/>
        </p:spPr>
        <p:txBody>
          <a:bodyPr wrap="square" lIns="0" tIns="0" rIns="0" bIns="0" rtlCol="0" anchor="t"/>
          <a:lstStyle/>
          <a:p>
            <a:pPr marL="0" indent="0" algn="ctr">
              <a:buNone/>
            </a:pPr>
            <a:r>
              <a:rPr lang="en-US" sz="1100" dirty="0">
                <a:solidFill>
                  <a:srgbClr val="231A2E"/>
                </a:solidFill>
                <a:latin typeface="Calibri" pitchFamily="34" charset="0"/>
                <a:ea typeface="Calibri" pitchFamily="34" charset="-122"/>
                <a:cs typeface="Calibri" pitchFamily="34" charset="-120"/>
              </a:rPr>
              <a:t>Collect operating signals from every station, regardless of instrumentation level.</a:t>
            </a:r>
            <a:endParaRPr lang="en-US" sz="1100" dirty="0"/>
          </a:p>
        </p:txBody>
      </p:sp>
      <p:sp>
        <p:nvSpPr>
          <p:cNvPr id="10" name="Text 8"/>
          <p:cNvSpPr txBox="1"/>
          <p:nvPr/>
        </p:nvSpPr>
        <p:spPr>
          <a:xfrm>
            <a:off x="2578608" y="2734056"/>
            <a:ext cx="329184" cy="329184"/>
          </a:xfrm>
          <a:prstGeom prst="rect">
            <a:avLst/>
          </a:prstGeom>
          <a:noFill/>
          <a:ln/>
        </p:spPr>
        <p:txBody>
          <a:bodyPr wrap="square" lIns="0" tIns="0" rIns="0" bIns="0" rtlCol="0" anchor="ctr"/>
          <a:lstStyle/>
          <a:p>
            <a:pPr marL="0" indent="0" algn="ctr">
              <a:buNone/>
            </a:pPr>
            <a:r>
              <a:rPr lang="en-US" sz="1600" b="1" dirty="0">
                <a:solidFill>
                  <a:srgbClr val="A100FF"/>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807208" y="2606040"/>
            <a:ext cx="2057400" cy="3383280"/>
          </a:xfrm>
          <a:prstGeom prst="roundRect">
            <a:avLst>
              <a:gd name="adj" fmla="val 4444"/>
            </a:avLst>
          </a:prstGeom>
          <a:solidFill>
            <a:srgbClr val="FFFFFF"/>
          </a:solidFill>
          <a:ln w="12700">
            <a:solidFill>
              <a:srgbClr val="E3CFFF"/>
            </a:solidFill>
            <a:prstDash val="solid"/>
          </a:ln>
        </p:spPr>
        <p:txBody>
          <a:bodyPr/>
          <a:lstStyle/>
          <a:p>
            <a:endParaRPr lang="en-IN"/>
          </a:p>
        </p:txBody>
      </p:sp>
      <p:sp>
        <p:nvSpPr>
          <p:cNvPr id="12" name="Shape 10"/>
          <p:cNvSpPr/>
          <p:nvPr/>
        </p:nvSpPr>
        <p:spPr>
          <a:xfrm>
            <a:off x="3543300" y="2862072"/>
            <a:ext cx="585216" cy="585216"/>
          </a:xfrm>
          <a:prstGeom prst="ellipse">
            <a:avLst/>
          </a:prstGeom>
          <a:solidFill>
            <a:srgbClr val="A100FF"/>
          </a:solidFill>
          <a:ln/>
        </p:spPr>
        <p:txBody>
          <a:bodyPr/>
          <a:lstStyle/>
          <a:p>
            <a:endParaRPr lang="en-IN"/>
          </a:p>
        </p:txBody>
      </p:sp>
      <p:sp>
        <p:nvSpPr>
          <p:cNvPr id="13" name="Text 11"/>
          <p:cNvSpPr txBox="1"/>
          <p:nvPr/>
        </p:nvSpPr>
        <p:spPr>
          <a:xfrm>
            <a:off x="3543300" y="2862072"/>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2898648" y="3566160"/>
            <a:ext cx="1874520" cy="365760"/>
          </a:xfrm>
          <a:prstGeom prst="rect">
            <a:avLst/>
          </a:prstGeom>
          <a:noFill/>
          <a:ln/>
        </p:spPr>
        <p:txBody>
          <a:bodyPr wrap="square" lIns="0" tIns="0" rIns="0" bIns="0" rtlCol="0" anchor="ctr"/>
          <a:lstStyle/>
          <a:p>
            <a:pPr marL="0" indent="0" algn="ctr">
              <a:buNone/>
            </a:pPr>
            <a:r>
              <a:rPr lang="en-US" sz="1500" b="1" dirty="0">
                <a:solidFill>
                  <a:srgbClr val="6E00B3"/>
                </a:solidFill>
                <a:latin typeface="Cambria" pitchFamily="34" charset="0"/>
                <a:ea typeface="Cambria" pitchFamily="34" charset="-122"/>
                <a:cs typeface="Cambria" pitchFamily="34" charset="-120"/>
              </a:rPr>
              <a:t>Estimate</a:t>
            </a:r>
            <a:endParaRPr lang="en-US" sz="1500" dirty="0"/>
          </a:p>
        </p:txBody>
      </p:sp>
      <p:sp>
        <p:nvSpPr>
          <p:cNvPr id="15" name="Text 13"/>
          <p:cNvSpPr txBox="1"/>
          <p:nvPr/>
        </p:nvSpPr>
        <p:spPr>
          <a:xfrm>
            <a:off x="2971800" y="3977640"/>
            <a:ext cx="1728216" cy="1874520"/>
          </a:xfrm>
          <a:prstGeom prst="rect">
            <a:avLst/>
          </a:prstGeom>
          <a:noFill/>
          <a:ln/>
        </p:spPr>
        <p:txBody>
          <a:bodyPr wrap="square" lIns="0" tIns="0" rIns="0" bIns="0" rtlCol="0" anchor="t"/>
          <a:lstStyle/>
          <a:p>
            <a:pPr marL="0" indent="0" algn="ctr">
              <a:buNone/>
            </a:pPr>
            <a:r>
              <a:rPr lang="en-US" sz="1100" dirty="0">
                <a:solidFill>
                  <a:srgbClr val="231A2E"/>
                </a:solidFill>
                <a:latin typeface="Calibri" pitchFamily="34" charset="0"/>
                <a:ea typeface="Calibri" pitchFamily="34" charset="-122"/>
                <a:cs typeface="Calibri" pitchFamily="34" charset="-120"/>
              </a:rPr>
              <a:t>Fill gaps at under-instrumented stations using estimated sensor values.</a:t>
            </a:r>
            <a:endParaRPr lang="en-US" sz="1100" dirty="0"/>
          </a:p>
        </p:txBody>
      </p:sp>
      <p:sp>
        <p:nvSpPr>
          <p:cNvPr id="16" name="Text 14"/>
          <p:cNvSpPr txBox="1"/>
          <p:nvPr/>
        </p:nvSpPr>
        <p:spPr>
          <a:xfrm>
            <a:off x="4837176" y="2734056"/>
            <a:ext cx="329184" cy="329184"/>
          </a:xfrm>
          <a:prstGeom prst="rect">
            <a:avLst/>
          </a:prstGeom>
          <a:noFill/>
          <a:ln/>
        </p:spPr>
        <p:txBody>
          <a:bodyPr wrap="square" lIns="0" tIns="0" rIns="0" bIns="0" rtlCol="0" anchor="ctr"/>
          <a:lstStyle/>
          <a:p>
            <a:pPr marL="0" indent="0" algn="ctr">
              <a:buNone/>
            </a:pPr>
            <a:r>
              <a:rPr lang="en-US" sz="1600" b="1" dirty="0">
                <a:solidFill>
                  <a:srgbClr val="A100FF"/>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5065776" y="2606040"/>
            <a:ext cx="2057400" cy="3383280"/>
          </a:xfrm>
          <a:prstGeom prst="roundRect">
            <a:avLst>
              <a:gd name="adj" fmla="val 4444"/>
            </a:avLst>
          </a:prstGeom>
          <a:solidFill>
            <a:srgbClr val="F4EBFF"/>
          </a:solidFill>
          <a:ln w="12700">
            <a:solidFill>
              <a:srgbClr val="E3CFFF"/>
            </a:solidFill>
            <a:prstDash val="solid"/>
          </a:ln>
        </p:spPr>
        <p:txBody>
          <a:bodyPr/>
          <a:lstStyle/>
          <a:p>
            <a:endParaRPr lang="en-IN"/>
          </a:p>
        </p:txBody>
      </p:sp>
      <p:sp>
        <p:nvSpPr>
          <p:cNvPr id="18" name="Shape 16"/>
          <p:cNvSpPr/>
          <p:nvPr/>
        </p:nvSpPr>
        <p:spPr>
          <a:xfrm>
            <a:off x="5801868" y="2862072"/>
            <a:ext cx="585216" cy="585216"/>
          </a:xfrm>
          <a:prstGeom prst="ellipse">
            <a:avLst/>
          </a:prstGeom>
          <a:solidFill>
            <a:srgbClr val="A100FF"/>
          </a:solidFill>
          <a:ln/>
        </p:spPr>
        <p:txBody>
          <a:bodyPr/>
          <a:lstStyle/>
          <a:p>
            <a:endParaRPr lang="en-IN"/>
          </a:p>
        </p:txBody>
      </p:sp>
      <p:sp>
        <p:nvSpPr>
          <p:cNvPr id="19" name="Text 17"/>
          <p:cNvSpPr txBox="1"/>
          <p:nvPr/>
        </p:nvSpPr>
        <p:spPr>
          <a:xfrm>
            <a:off x="5801868" y="2862072"/>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5157216" y="3566160"/>
            <a:ext cx="1874520" cy="365760"/>
          </a:xfrm>
          <a:prstGeom prst="rect">
            <a:avLst/>
          </a:prstGeom>
          <a:noFill/>
          <a:ln/>
        </p:spPr>
        <p:txBody>
          <a:bodyPr wrap="square" lIns="0" tIns="0" rIns="0" bIns="0" rtlCol="0" anchor="ctr"/>
          <a:lstStyle/>
          <a:p>
            <a:pPr marL="0" indent="0" algn="ctr">
              <a:buNone/>
            </a:pPr>
            <a:r>
              <a:rPr lang="en-US" sz="1500" b="1" dirty="0">
                <a:solidFill>
                  <a:srgbClr val="6E00B3"/>
                </a:solidFill>
                <a:latin typeface="Cambria" pitchFamily="34" charset="0"/>
                <a:ea typeface="Cambria" pitchFamily="34" charset="-122"/>
                <a:cs typeface="Cambria" pitchFamily="34" charset="-120"/>
              </a:rPr>
              <a:t>Model</a:t>
            </a:r>
            <a:endParaRPr lang="en-US" sz="1500" dirty="0"/>
          </a:p>
        </p:txBody>
      </p:sp>
      <p:sp>
        <p:nvSpPr>
          <p:cNvPr id="21" name="Text 19"/>
          <p:cNvSpPr txBox="1"/>
          <p:nvPr/>
        </p:nvSpPr>
        <p:spPr>
          <a:xfrm>
            <a:off x="5230368" y="3977640"/>
            <a:ext cx="1728216" cy="1874520"/>
          </a:xfrm>
          <a:prstGeom prst="rect">
            <a:avLst/>
          </a:prstGeom>
          <a:noFill/>
          <a:ln/>
        </p:spPr>
        <p:txBody>
          <a:bodyPr wrap="square" lIns="0" tIns="0" rIns="0" bIns="0" rtlCol="0" anchor="t"/>
          <a:lstStyle/>
          <a:p>
            <a:pPr marL="0" indent="0" algn="ctr">
              <a:buNone/>
            </a:pPr>
            <a:r>
              <a:rPr lang="en-US" sz="1100" dirty="0">
                <a:solidFill>
                  <a:srgbClr val="231A2E"/>
                </a:solidFill>
                <a:latin typeface="Calibri" pitchFamily="34" charset="0"/>
                <a:ea typeface="Calibri" pitchFamily="34" charset="-122"/>
                <a:cs typeface="Calibri" pitchFamily="34" charset="-120"/>
              </a:rPr>
              <a:t>Represent the line as a graph so that dependencies between stations are captured explicitly.</a:t>
            </a:r>
            <a:endParaRPr lang="en-US" sz="1100" dirty="0"/>
          </a:p>
        </p:txBody>
      </p:sp>
      <p:sp>
        <p:nvSpPr>
          <p:cNvPr id="22" name="Text 20"/>
          <p:cNvSpPr txBox="1"/>
          <p:nvPr/>
        </p:nvSpPr>
        <p:spPr>
          <a:xfrm>
            <a:off x="7095744" y="2734056"/>
            <a:ext cx="329184" cy="329184"/>
          </a:xfrm>
          <a:prstGeom prst="rect">
            <a:avLst/>
          </a:prstGeom>
          <a:noFill/>
          <a:ln/>
        </p:spPr>
        <p:txBody>
          <a:bodyPr wrap="square" lIns="0" tIns="0" rIns="0" bIns="0" rtlCol="0" anchor="ctr"/>
          <a:lstStyle/>
          <a:p>
            <a:pPr marL="0" indent="0" algn="ctr">
              <a:buNone/>
            </a:pPr>
            <a:r>
              <a:rPr lang="en-US" sz="1600" b="1" dirty="0">
                <a:solidFill>
                  <a:srgbClr val="A100FF"/>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7324344" y="2606040"/>
            <a:ext cx="2057400" cy="3383280"/>
          </a:xfrm>
          <a:prstGeom prst="roundRect">
            <a:avLst>
              <a:gd name="adj" fmla="val 4444"/>
            </a:avLst>
          </a:prstGeom>
          <a:solidFill>
            <a:srgbClr val="FFFFFF"/>
          </a:solidFill>
          <a:ln w="12700">
            <a:solidFill>
              <a:srgbClr val="E3CFFF"/>
            </a:solidFill>
            <a:prstDash val="solid"/>
          </a:ln>
        </p:spPr>
        <p:txBody>
          <a:bodyPr/>
          <a:lstStyle/>
          <a:p>
            <a:endParaRPr lang="en-IN"/>
          </a:p>
        </p:txBody>
      </p:sp>
      <p:sp>
        <p:nvSpPr>
          <p:cNvPr id="24" name="Shape 22"/>
          <p:cNvSpPr/>
          <p:nvPr/>
        </p:nvSpPr>
        <p:spPr>
          <a:xfrm>
            <a:off x="8060436" y="2862072"/>
            <a:ext cx="585216" cy="585216"/>
          </a:xfrm>
          <a:prstGeom prst="ellipse">
            <a:avLst/>
          </a:prstGeom>
          <a:solidFill>
            <a:srgbClr val="A100FF"/>
          </a:solidFill>
          <a:ln/>
        </p:spPr>
        <p:txBody>
          <a:bodyPr/>
          <a:lstStyle/>
          <a:p>
            <a:endParaRPr lang="en-IN"/>
          </a:p>
        </p:txBody>
      </p:sp>
      <p:sp>
        <p:nvSpPr>
          <p:cNvPr id="25" name="Text 23"/>
          <p:cNvSpPr txBox="1"/>
          <p:nvPr/>
        </p:nvSpPr>
        <p:spPr>
          <a:xfrm>
            <a:off x="8060436" y="2862072"/>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6" name="Text 24"/>
          <p:cNvSpPr txBox="1"/>
          <p:nvPr/>
        </p:nvSpPr>
        <p:spPr>
          <a:xfrm>
            <a:off x="7415784" y="3566160"/>
            <a:ext cx="1874520" cy="365760"/>
          </a:xfrm>
          <a:prstGeom prst="rect">
            <a:avLst/>
          </a:prstGeom>
          <a:noFill/>
          <a:ln/>
        </p:spPr>
        <p:txBody>
          <a:bodyPr wrap="square" lIns="0" tIns="0" rIns="0" bIns="0" rtlCol="0" anchor="ctr"/>
          <a:lstStyle/>
          <a:p>
            <a:pPr marL="0" indent="0" algn="ctr">
              <a:buNone/>
            </a:pPr>
            <a:r>
              <a:rPr lang="en-US" sz="1500" b="1" dirty="0">
                <a:solidFill>
                  <a:srgbClr val="6E00B3"/>
                </a:solidFill>
                <a:latin typeface="Cambria" pitchFamily="34" charset="0"/>
                <a:ea typeface="Cambria" pitchFamily="34" charset="-122"/>
                <a:cs typeface="Cambria" pitchFamily="34" charset="-120"/>
              </a:rPr>
              <a:t>Forecast</a:t>
            </a:r>
            <a:endParaRPr lang="en-US" sz="1500" dirty="0"/>
          </a:p>
        </p:txBody>
      </p:sp>
      <p:sp>
        <p:nvSpPr>
          <p:cNvPr id="27" name="Text 25"/>
          <p:cNvSpPr txBox="1"/>
          <p:nvPr/>
        </p:nvSpPr>
        <p:spPr>
          <a:xfrm>
            <a:off x="7488936" y="3977640"/>
            <a:ext cx="1728216" cy="1874520"/>
          </a:xfrm>
          <a:prstGeom prst="rect">
            <a:avLst/>
          </a:prstGeom>
          <a:noFill/>
          <a:ln/>
        </p:spPr>
        <p:txBody>
          <a:bodyPr wrap="square" lIns="0" tIns="0" rIns="0" bIns="0" rtlCol="0" anchor="t"/>
          <a:lstStyle/>
          <a:p>
            <a:pPr marL="0" indent="0" algn="ctr">
              <a:buNone/>
            </a:pPr>
            <a:r>
              <a:rPr lang="en-US" sz="1100" dirty="0">
                <a:solidFill>
                  <a:srgbClr val="231A2E"/>
                </a:solidFill>
                <a:latin typeface="Calibri" pitchFamily="34" charset="0"/>
                <a:ea typeface="Calibri" pitchFamily="34" charset="-122"/>
                <a:cs typeface="Calibri" pitchFamily="34" charset="-120"/>
              </a:rPr>
              <a:t>Predict station-level operating conditions across short and long time horizons.</a:t>
            </a:r>
            <a:endParaRPr lang="en-US" sz="1100" dirty="0"/>
          </a:p>
        </p:txBody>
      </p:sp>
      <p:sp>
        <p:nvSpPr>
          <p:cNvPr id="28" name="Text 26"/>
          <p:cNvSpPr txBox="1"/>
          <p:nvPr/>
        </p:nvSpPr>
        <p:spPr>
          <a:xfrm>
            <a:off x="9354312" y="2734056"/>
            <a:ext cx="329184" cy="329184"/>
          </a:xfrm>
          <a:prstGeom prst="rect">
            <a:avLst/>
          </a:prstGeom>
          <a:noFill/>
          <a:ln/>
        </p:spPr>
        <p:txBody>
          <a:bodyPr wrap="square" lIns="0" tIns="0" rIns="0" bIns="0" rtlCol="0" anchor="ctr"/>
          <a:lstStyle/>
          <a:p>
            <a:pPr marL="0" indent="0" algn="ctr">
              <a:buNone/>
            </a:pPr>
            <a:r>
              <a:rPr lang="en-US" sz="1600" b="1" dirty="0">
                <a:solidFill>
                  <a:srgbClr val="A100FF"/>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9582912" y="2606040"/>
            <a:ext cx="2057400" cy="3383280"/>
          </a:xfrm>
          <a:prstGeom prst="roundRect">
            <a:avLst>
              <a:gd name="adj" fmla="val 4444"/>
            </a:avLst>
          </a:prstGeom>
          <a:solidFill>
            <a:srgbClr val="F4EBFF"/>
          </a:solidFill>
          <a:ln w="12700">
            <a:solidFill>
              <a:srgbClr val="E3CFFF"/>
            </a:solidFill>
            <a:prstDash val="solid"/>
          </a:ln>
        </p:spPr>
        <p:txBody>
          <a:bodyPr/>
          <a:lstStyle/>
          <a:p>
            <a:endParaRPr lang="en-IN"/>
          </a:p>
        </p:txBody>
      </p:sp>
      <p:sp>
        <p:nvSpPr>
          <p:cNvPr id="30" name="Shape 28"/>
          <p:cNvSpPr/>
          <p:nvPr/>
        </p:nvSpPr>
        <p:spPr>
          <a:xfrm>
            <a:off x="10319004" y="2862072"/>
            <a:ext cx="585216" cy="585216"/>
          </a:xfrm>
          <a:prstGeom prst="ellipse">
            <a:avLst/>
          </a:prstGeom>
          <a:solidFill>
            <a:srgbClr val="A100FF"/>
          </a:solidFill>
          <a:ln/>
        </p:spPr>
        <p:txBody>
          <a:bodyPr/>
          <a:lstStyle/>
          <a:p>
            <a:endParaRPr lang="en-IN"/>
          </a:p>
        </p:txBody>
      </p:sp>
      <p:sp>
        <p:nvSpPr>
          <p:cNvPr id="31" name="Text 29"/>
          <p:cNvSpPr txBox="1"/>
          <p:nvPr/>
        </p:nvSpPr>
        <p:spPr>
          <a:xfrm>
            <a:off x="10319004" y="2862072"/>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2" name="Text 30"/>
          <p:cNvSpPr txBox="1"/>
          <p:nvPr/>
        </p:nvSpPr>
        <p:spPr>
          <a:xfrm>
            <a:off x="9674352" y="3566160"/>
            <a:ext cx="1874520" cy="365760"/>
          </a:xfrm>
          <a:prstGeom prst="rect">
            <a:avLst/>
          </a:prstGeom>
          <a:noFill/>
          <a:ln/>
        </p:spPr>
        <p:txBody>
          <a:bodyPr wrap="square" lIns="0" tIns="0" rIns="0" bIns="0" rtlCol="0" anchor="ctr"/>
          <a:lstStyle/>
          <a:p>
            <a:pPr marL="0" indent="0" algn="ctr">
              <a:buNone/>
            </a:pPr>
            <a:r>
              <a:rPr lang="en-US" sz="1500" b="1" dirty="0">
                <a:solidFill>
                  <a:srgbClr val="6E00B3"/>
                </a:solidFill>
                <a:latin typeface="Cambria" pitchFamily="34" charset="0"/>
                <a:ea typeface="Cambria" pitchFamily="34" charset="-122"/>
                <a:cs typeface="Cambria" pitchFamily="34" charset="-120"/>
              </a:rPr>
              <a:t>Recommend</a:t>
            </a:r>
            <a:endParaRPr lang="en-US" sz="1500" dirty="0"/>
          </a:p>
        </p:txBody>
      </p:sp>
      <p:sp>
        <p:nvSpPr>
          <p:cNvPr id="33" name="Text 31"/>
          <p:cNvSpPr txBox="1"/>
          <p:nvPr/>
        </p:nvSpPr>
        <p:spPr>
          <a:xfrm>
            <a:off x="9747504" y="3977640"/>
            <a:ext cx="1728216" cy="1874520"/>
          </a:xfrm>
          <a:prstGeom prst="rect">
            <a:avLst/>
          </a:prstGeom>
          <a:noFill/>
          <a:ln/>
        </p:spPr>
        <p:txBody>
          <a:bodyPr wrap="square" lIns="0" tIns="0" rIns="0" bIns="0" rtlCol="0" anchor="t"/>
          <a:lstStyle/>
          <a:p>
            <a:pPr marL="0" indent="0" algn="ctr">
              <a:buNone/>
            </a:pPr>
            <a:r>
              <a:rPr lang="en-US" sz="1100" dirty="0">
                <a:solidFill>
                  <a:srgbClr val="231A2E"/>
                </a:solidFill>
                <a:latin typeface="Calibri" pitchFamily="34" charset="0"/>
                <a:ea typeface="Calibri" pitchFamily="34" charset="-122"/>
                <a:cs typeface="Calibri" pitchFamily="34" charset="-120"/>
              </a:rPr>
              <a:t>Generate a prioritised, explainable recommendation for the operating team.</a:t>
            </a:r>
            <a:endParaRPr lang="en-US" sz="1100" dirty="0"/>
          </a:p>
        </p:txBody>
      </p:sp>
      <p:sp>
        <p:nvSpPr>
          <p:cNvPr id="35" name="Text 33"/>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04</a:t>
            </a:r>
            <a:endParaRPr lang="en-US" sz="950" dirty="0"/>
          </a:p>
        </p:txBody>
      </p:sp>
      <p:sp>
        <p:nvSpPr>
          <p:cNvPr id="36" name="Shape 34"/>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6022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D9B8FF"/>
                </a:solidFill>
                <a:latin typeface="Calibri" pitchFamily="34" charset="0"/>
                <a:ea typeface="Calibri" pitchFamily="34" charset="-122"/>
                <a:cs typeface="Calibri" pitchFamily="34" charset="-120"/>
              </a:rPr>
              <a:t>TECHNICAL APPROACH</a:t>
            </a:r>
            <a:endParaRPr lang="en-US" sz="1150" dirty="0"/>
          </a:p>
        </p:txBody>
      </p:sp>
      <p:sp>
        <p:nvSpPr>
          <p:cNvPr id="3" name="Text 1"/>
          <p:cNvSpPr txBox="1"/>
          <p:nvPr/>
        </p:nvSpPr>
        <p:spPr>
          <a:xfrm>
            <a:off x="548640" y="658368"/>
            <a:ext cx="960120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Core Forecasting Mechanism</a:t>
            </a:r>
            <a:endParaRPr lang="en-US" sz="3000" dirty="0"/>
          </a:p>
        </p:txBody>
      </p:sp>
      <p:sp>
        <p:nvSpPr>
          <p:cNvPr id="4" name="Text 2"/>
          <p:cNvSpPr txBox="1"/>
          <p:nvPr/>
        </p:nvSpPr>
        <p:spPr>
          <a:xfrm>
            <a:off x="548640" y="1481328"/>
            <a:ext cx="6492240" cy="4480560"/>
          </a:xfrm>
          <a:prstGeom prst="rect">
            <a:avLst/>
          </a:prstGeom>
          <a:noFill/>
          <a:ln/>
        </p:spPr>
        <p:txBody>
          <a:bodyPr wrap="square" lIns="0" tIns="0" rIns="0" bIns="0" rtlCol="0" anchor="t"/>
          <a:lstStyle/>
          <a:p>
            <a:pPr marL="0" indent="0">
              <a:spcAft>
                <a:spcPts val="1200"/>
              </a:spcAft>
              <a:buNone/>
            </a:pPr>
            <a:r>
              <a:rPr lang="en-US" sz="1400" dirty="0">
                <a:solidFill>
                  <a:srgbClr val="E9DBFF"/>
                </a:solidFill>
                <a:latin typeface="Calibri" pitchFamily="34" charset="0"/>
                <a:ea typeface="Calibri" pitchFamily="34" charset="-122"/>
                <a:cs typeface="Calibri" pitchFamily="34" charset="-120"/>
              </a:rPr>
              <a:t>The forecasting core combines two complementary modelling techniques. A station-level encoder, implemented as a Long Short-Term Memory (LSTM) network, learns the temporal operating pattern of each individual station from its own historical signal. This is followed by a Graph Convolutional Network (GCN) layer, which propagates the learned state of each station to its immediate downstream neighbour, reflecting the physical sequence of the assembly line. This combined design allows the model to anticipate a downstream disturbance before it physically arrives, rather than waiting for the disturbance to appear in that station's own sensor history.</a:t>
            </a:r>
            <a:endParaRPr lang="en-US" sz="1400" dirty="0"/>
          </a:p>
          <a:p>
            <a:pPr marL="0" indent="0">
              <a:spcAft>
                <a:spcPts val="1200"/>
              </a:spcAft>
              <a:buNone/>
            </a:pPr>
            <a:r>
              <a:rPr lang="en-US" sz="1400" dirty="0">
                <a:solidFill>
                  <a:srgbClr val="E9DBFF"/>
                </a:solidFill>
                <a:latin typeface="Calibri" pitchFamily="34" charset="0"/>
                <a:ea typeface="Calibri" pitchFamily="34" charset="-122"/>
                <a:cs typeface="Calibri" pitchFamily="34" charset="-120"/>
              </a:rPr>
              <a:t>Anomalies are identified through residual-based thresholding against each station's expected operating range, and each flagged anomaly is attributed to its most probable originating station using timing and network-propagation analysis providing operators with an explanation, not an undifferentiated alert.</a:t>
            </a:r>
            <a:endParaRPr lang="en-US" sz="1400" dirty="0"/>
          </a:p>
        </p:txBody>
      </p:sp>
      <p:sp>
        <p:nvSpPr>
          <p:cNvPr id="6" name="Text 4"/>
          <p:cNvSpPr txBox="1"/>
          <p:nvPr/>
        </p:nvSpPr>
        <p:spPr>
          <a:xfrm>
            <a:off x="7360920" y="1691640"/>
            <a:ext cx="4251960" cy="685800"/>
          </a:xfrm>
          <a:prstGeom prst="rect">
            <a:avLst/>
          </a:prstGeom>
          <a:noFill/>
          <a:ln/>
        </p:spPr>
        <p:txBody>
          <a:bodyPr wrap="square" lIns="0" tIns="0" rIns="0" bIns="0" rtlCol="0" anchor="ctr"/>
          <a:lstStyle/>
          <a:p>
            <a:pPr marL="0" indent="0" algn="ctr">
              <a:buNone/>
            </a:pPr>
            <a:r>
              <a:rPr lang="en-US" sz="2800" b="1" dirty="0">
                <a:solidFill>
                  <a:srgbClr val="A100FF"/>
                </a:solidFill>
                <a:latin typeface="Cambria" pitchFamily="34" charset="0"/>
                <a:ea typeface="Cambria" pitchFamily="34" charset="-122"/>
                <a:cs typeface="Cambria" pitchFamily="34" charset="-120"/>
              </a:rPr>
              <a:t>23% lower</a:t>
            </a:r>
            <a:endParaRPr lang="en-US" sz="2800" dirty="0"/>
          </a:p>
        </p:txBody>
      </p:sp>
      <p:sp>
        <p:nvSpPr>
          <p:cNvPr id="7" name="Text 5"/>
          <p:cNvSpPr txBox="1"/>
          <p:nvPr/>
        </p:nvSpPr>
        <p:spPr>
          <a:xfrm>
            <a:off x="7589520" y="2377440"/>
            <a:ext cx="3794760" cy="11430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Forecast error two stations downstream of an induced bottleneck, versus a station-level model with no cross-station awareness</a:t>
            </a:r>
            <a:endParaRPr lang="en-US" sz="1200" dirty="0"/>
          </a:p>
        </p:txBody>
      </p:sp>
      <p:sp>
        <p:nvSpPr>
          <p:cNvPr id="9" name="Text 7"/>
          <p:cNvSpPr txBox="1"/>
          <p:nvPr/>
        </p:nvSpPr>
        <p:spPr>
          <a:xfrm>
            <a:off x="7635240" y="3950208"/>
            <a:ext cx="3749040" cy="320040"/>
          </a:xfrm>
          <a:prstGeom prst="rect">
            <a:avLst/>
          </a:prstGeom>
          <a:noFill/>
          <a:ln/>
        </p:spPr>
        <p:txBody>
          <a:bodyPr wrap="square" lIns="0" tIns="0" rIns="0" bIns="0" rtlCol="0" anchor="ctr"/>
          <a:lstStyle/>
          <a:p>
            <a:pPr marL="0" indent="0">
              <a:buNone/>
            </a:pPr>
            <a:r>
              <a:rPr lang="en-US" sz="1400" b="1" dirty="0">
                <a:solidFill>
                  <a:srgbClr val="D9B8FF"/>
                </a:solidFill>
                <a:latin typeface="Cambria" pitchFamily="34" charset="0"/>
                <a:ea typeface="Cambria" pitchFamily="34" charset="-122"/>
                <a:cs typeface="Cambria" pitchFamily="34" charset="-120"/>
              </a:rPr>
              <a:t>Forecast Horizons</a:t>
            </a:r>
            <a:endParaRPr lang="en-US" sz="1400" dirty="0"/>
          </a:p>
        </p:txBody>
      </p:sp>
      <p:sp>
        <p:nvSpPr>
          <p:cNvPr id="10" name="Text 8"/>
          <p:cNvSpPr txBox="1"/>
          <p:nvPr/>
        </p:nvSpPr>
        <p:spPr>
          <a:xfrm>
            <a:off x="7635240" y="4315968"/>
            <a:ext cx="3749040" cy="15544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Short horizon:  </a:t>
            </a:r>
            <a:r>
              <a:rPr lang="en-US" sz="1200" dirty="0">
                <a:solidFill>
                  <a:srgbClr val="E9DBFF"/>
                </a:solidFill>
                <a:latin typeface="Calibri" pitchFamily="34" charset="0"/>
                <a:ea typeface="Calibri" pitchFamily="34" charset="-122"/>
                <a:cs typeface="Calibri" pitchFamily="34" charset="-120"/>
              </a:rPr>
              <a:t>5-minute forecast, for immediate operator response
</a:t>
            </a:r>
            <a:r>
              <a:rPr lang="en-US" sz="1200" b="1" dirty="0">
                <a:solidFill>
                  <a:srgbClr val="FFFFFF"/>
                </a:solidFill>
                <a:latin typeface="Calibri" pitchFamily="34" charset="0"/>
                <a:ea typeface="Calibri" pitchFamily="34" charset="-122"/>
                <a:cs typeface="Calibri" pitchFamily="34" charset="-120"/>
              </a:rPr>
              <a:t>Long horizon:  </a:t>
            </a:r>
            <a:r>
              <a:rPr lang="en-US" sz="1200" dirty="0">
                <a:solidFill>
                  <a:srgbClr val="E9DBFF"/>
                </a:solidFill>
                <a:latin typeface="Calibri" pitchFamily="34" charset="0"/>
                <a:ea typeface="Calibri" pitchFamily="34" charset="-122"/>
                <a:cs typeface="Calibri" pitchFamily="34" charset="-120"/>
              </a:rPr>
              <a:t>30-minute forecast, for supervisory and planning use</a:t>
            </a:r>
            <a:endParaRPr lang="en-US" sz="1200" dirty="0"/>
          </a:p>
        </p:txBody>
      </p:sp>
      <p:sp>
        <p:nvSpPr>
          <p:cNvPr id="11" name="Text 9"/>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C9AEE8"/>
                </a:solidFill>
                <a:latin typeface="Calibri" pitchFamily="34" charset="0"/>
                <a:ea typeface="Calibri" pitchFamily="34" charset="-122"/>
                <a:cs typeface="Calibri" pitchFamily="34" charset="-120"/>
              </a:rPr>
              <a:t>05</a:t>
            </a:r>
            <a:endParaRPr lang="en-US" sz="950" dirty="0"/>
          </a:p>
        </p:txBody>
      </p:sp>
      <p:sp>
        <p:nvSpPr>
          <p:cNvPr id="12" name="Shape 10"/>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TECHNICAL APPROACH</a:t>
            </a:r>
            <a:endParaRPr lang="en-US" sz="1150" dirty="0"/>
          </a:p>
        </p:txBody>
      </p:sp>
      <p:sp>
        <p:nvSpPr>
          <p:cNvPr id="3" name="Text 1"/>
          <p:cNvSpPr txBox="1"/>
          <p:nvPr/>
        </p:nvSpPr>
        <p:spPr>
          <a:xfrm>
            <a:off x="548640" y="658368"/>
            <a:ext cx="11064240" cy="914400"/>
          </a:xfrm>
          <a:prstGeom prst="rect">
            <a:avLst/>
          </a:prstGeom>
          <a:noFill/>
          <a:ln/>
        </p:spPr>
        <p:txBody>
          <a:bodyPr wrap="square" lIns="0" tIns="0" rIns="0" bIns="0" rtlCol="0" anchor="ctr"/>
          <a:lstStyle/>
          <a:p>
            <a:pPr marL="0" indent="0">
              <a:buNone/>
            </a:pPr>
            <a:r>
              <a:rPr lang="en-US" sz="2500" b="1" dirty="0">
                <a:solidFill>
                  <a:srgbClr val="231A2E"/>
                </a:solidFill>
                <a:latin typeface="Cambria" pitchFamily="34" charset="0"/>
                <a:ea typeface="Cambria" pitchFamily="34" charset="-122"/>
                <a:cs typeface="Cambria" pitchFamily="34" charset="-120"/>
              </a:rPr>
              <a:t>Estimating Missing Sensor Data at Under-Instrumented Stations</a:t>
            </a:r>
            <a:endParaRPr lang="en-US" sz="2500" dirty="0"/>
          </a:p>
        </p:txBody>
      </p:sp>
      <p:sp>
        <p:nvSpPr>
          <p:cNvPr id="4" name="Text 2"/>
          <p:cNvSpPr txBox="1"/>
          <p:nvPr/>
        </p:nvSpPr>
        <p:spPr>
          <a:xfrm>
            <a:off x="548640" y="1627632"/>
            <a:ext cx="6675120" cy="4572000"/>
          </a:xfrm>
          <a:prstGeom prst="rect">
            <a:avLst/>
          </a:prstGeom>
          <a:noFill/>
          <a:ln/>
        </p:spPr>
        <p:txBody>
          <a:bodyPr wrap="square" lIns="0" tIns="0" rIns="0" bIns="0" rtlCol="0" anchor="t"/>
          <a:lstStyle/>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A meaningful proportion of stations on any real assembly line will not be equipped with the direct sensors required to measure the condition of interest. In the validated prototype, approximately seventeen percent of stations provide only indirect, or proxy, signals, and a further eleven percent are monitored through manual checklists alone.</a:t>
            </a:r>
            <a:endParaRPr lang="en-US" sz="1400" dirty="0"/>
          </a:p>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To address this </a:t>
            </a:r>
            <a:r>
              <a:rPr lang="en-US" sz="1400" b="1" dirty="0">
                <a:solidFill>
                  <a:srgbClr val="231A2E"/>
                </a:solidFill>
                <a:latin typeface="Calibri" pitchFamily="34" charset="0"/>
                <a:ea typeface="Calibri" pitchFamily="34" charset="-122"/>
                <a:cs typeface="Calibri" pitchFamily="34" charset="-120"/>
              </a:rPr>
              <a:t>without requiring immediate capital investment </a:t>
            </a:r>
            <a:r>
              <a:rPr lang="en-US" sz="1400" dirty="0">
                <a:solidFill>
                  <a:srgbClr val="231A2E"/>
                </a:solidFill>
                <a:latin typeface="Calibri" pitchFamily="34" charset="0"/>
                <a:ea typeface="Calibri" pitchFamily="34" charset="-122"/>
                <a:cs typeface="Calibri" pitchFamily="34" charset="-120"/>
              </a:rPr>
              <a:t>in additional instrumentation, DigitalTwin.ai incorporates a dedicated </a:t>
            </a:r>
            <a:r>
              <a:rPr lang="en-US" sz="1400" b="1" dirty="0">
                <a:solidFill>
                  <a:srgbClr val="231A2E"/>
                </a:solidFill>
                <a:latin typeface="Calibri" pitchFamily="34" charset="0"/>
                <a:ea typeface="Calibri" pitchFamily="34" charset="-122"/>
                <a:cs typeface="Calibri" pitchFamily="34" charset="-120"/>
              </a:rPr>
              <a:t>soft-sensor estimation layer</a:t>
            </a:r>
            <a:r>
              <a:rPr lang="en-US" sz="1400" dirty="0">
                <a:solidFill>
                  <a:srgbClr val="231A2E"/>
                </a:solidFill>
                <a:latin typeface="Calibri" pitchFamily="34" charset="0"/>
                <a:ea typeface="Calibri" pitchFamily="34" charset="-122"/>
                <a:cs typeface="Calibri" pitchFamily="34" charset="-120"/>
              </a:rPr>
              <a:t>. This component is trained on stations where both true sensor readings, such as torque, vibration, and temperature, and indirect signals are simultaneously available. Using a gradient-boosting regression model, it learns the statistical relationship between indirect signals including motor current draw, control-loop setpoint error, and station cycle time and the true sensor values with which they correlate.</a:t>
            </a:r>
            <a:endParaRPr lang="en-US" sz="1400" dirty="0"/>
          </a:p>
          <a:p>
            <a:pPr marL="0" indent="0">
              <a:spcAft>
                <a:spcPts val="1200"/>
              </a:spcAft>
              <a:buNone/>
            </a:pPr>
            <a:r>
              <a:rPr lang="en-US" sz="1400" dirty="0">
                <a:solidFill>
                  <a:srgbClr val="231A2E"/>
                </a:solidFill>
                <a:latin typeface="Calibri" pitchFamily="34" charset="0"/>
                <a:ea typeface="Calibri" pitchFamily="34" charset="-122"/>
                <a:cs typeface="Calibri" pitchFamily="34" charset="-120"/>
              </a:rPr>
              <a:t>Once trained, this model is applied to stations that lack direct instrumentation, producing estimated sensor values in real time from the indirect signals already present at that station. These estimated values are then treated as first-class inputs to the downstream forecasting model, on the same basis as directly measured readings.</a:t>
            </a:r>
            <a:endParaRPr lang="en-US" sz="1400" dirty="0"/>
          </a:p>
        </p:txBody>
      </p:sp>
      <p:sp>
        <p:nvSpPr>
          <p:cNvPr id="6" name="Text 4"/>
          <p:cNvSpPr txBox="1"/>
          <p:nvPr/>
        </p:nvSpPr>
        <p:spPr>
          <a:xfrm>
            <a:off x="7680960" y="1783080"/>
            <a:ext cx="3703320" cy="320040"/>
          </a:xfrm>
          <a:prstGeom prst="rect">
            <a:avLst/>
          </a:prstGeom>
          <a:noFill/>
          <a:ln/>
        </p:spPr>
        <p:txBody>
          <a:bodyPr wrap="square" lIns="0" tIns="0" rIns="0" bIns="0" rtlCol="0" anchor="ctr"/>
          <a:lstStyle/>
          <a:p>
            <a:pPr marL="0" indent="0">
              <a:buNone/>
            </a:pPr>
            <a:r>
              <a:rPr lang="en-US" sz="1400" b="1" dirty="0">
                <a:solidFill>
                  <a:srgbClr val="6E00B3"/>
                </a:solidFill>
                <a:latin typeface="Cambria" pitchFamily="34" charset="0"/>
                <a:ea typeface="Cambria" pitchFamily="34" charset="-122"/>
                <a:cs typeface="Cambria" pitchFamily="34" charset="-120"/>
              </a:rPr>
              <a:t>Indirect Signals Used</a:t>
            </a:r>
            <a:endParaRPr lang="en-US" sz="1400" dirty="0"/>
          </a:p>
        </p:txBody>
      </p:sp>
      <p:sp>
        <p:nvSpPr>
          <p:cNvPr id="7" name="Text 5"/>
          <p:cNvSpPr txBox="1"/>
          <p:nvPr/>
        </p:nvSpPr>
        <p:spPr>
          <a:xfrm>
            <a:off x="7680960" y="2148840"/>
            <a:ext cx="365760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31A2E"/>
                </a:solidFill>
                <a:latin typeface="Calibri" pitchFamily="34" charset="0"/>
                <a:ea typeface="Calibri" pitchFamily="34" charset="-122"/>
                <a:cs typeface="Calibri" pitchFamily="34" charset="-120"/>
              </a:rPr>
              <a:t>Motor current draw</a:t>
            </a:r>
            <a:endParaRPr lang="en-US" sz="1300" dirty="0"/>
          </a:p>
          <a:p>
            <a:pPr marL="342900" indent="-342900">
              <a:spcAft>
                <a:spcPts val="800"/>
              </a:spcAft>
              <a:buSzPct val="100000"/>
              <a:buChar char="▪"/>
            </a:pPr>
            <a:r>
              <a:rPr lang="en-US" sz="1300" dirty="0">
                <a:solidFill>
                  <a:srgbClr val="231A2E"/>
                </a:solidFill>
                <a:latin typeface="Calibri" pitchFamily="34" charset="0"/>
                <a:ea typeface="Calibri" pitchFamily="34" charset="-122"/>
                <a:cs typeface="Calibri" pitchFamily="34" charset="-120"/>
              </a:rPr>
              <a:t>Control-loop setpoint error</a:t>
            </a:r>
            <a:endParaRPr lang="en-US" sz="1300" dirty="0"/>
          </a:p>
          <a:p>
            <a:pPr marL="342900" indent="-342900">
              <a:spcAft>
                <a:spcPts val="800"/>
              </a:spcAft>
              <a:buSzPct val="100000"/>
              <a:buChar char="▪"/>
            </a:pPr>
            <a:r>
              <a:rPr lang="en-US" sz="1300" dirty="0">
                <a:solidFill>
                  <a:srgbClr val="231A2E"/>
                </a:solidFill>
                <a:latin typeface="Calibri" pitchFamily="34" charset="0"/>
                <a:ea typeface="Calibri" pitchFamily="34" charset="-122"/>
                <a:cs typeface="Calibri" pitchFamily="34" charset="-120"/>
              </a:rPr>
              <a:t>Station cycle time</a:t>
            </a:r>
            <a:endParaRPr lang="en-US" sz="1300" dirty="0"/>
          </a:p>
        </p:txBody>
      </p:sp>
      <p:sp>
        <p:nvSpPr>
          <p:cNvPr id="8" name="Shape 6"/>
          <p:cNvSpPr/>
          <p:nvPr/>
        </p:nvSpPr>
        <p:spPr>
          <a:xfrm>
            <a:off x="7452360" y="4114800"/>
            <a:ext cx="4160520" cy="2103120"/>
          </a:xfrm>
          <a:prstGeom prst="roundRect">
            <a:avLst>
              <a:gd name="adj" fmla="val 5217"/>
            </a:avLst>
          </a:prstGeom>
          <a:solidFill>
            <a:srgbClr val="160221"/>
          </a:solidFill>
          <a:ln/>
        </p:spPr>
        <p:txBody>
          <a:bodyPr/>
          <a:lstStyle/>
          <a:p>
            <a:endParaRPr lang="en-IN"/>
          </a:p>
        </p:txBody>
      </p:sp>
      <p:sp>
        <p:nvSpPr>
          <p:cNvPr id="9" name="Text 7"/>
          <p:cNvSpPr txBox="1"/>
          <p:nvPr/>
        </p:nvSpPr>
        <p:spPr>
          <a:xfrm>
            <a:off x="7680960" y="4114800"/>
            <a:ext cx="3703320" cy="2103120"/>
          </a:xfrm>
          <a:prstGeom prst="rect">
            <a:avLst/>
          </a:prstGeom>
          <a:noFill/>
          <a:ln/>
        </p:spPr>
        <p:txBody>
          <a:bodyPr wrap="square" lIns="0" tIns="0" rIns="0" bIns="0" rtlCol="0" anchor="ctr"/>
          <a:lstStyle/>
          <a:p>
            <a:pPr marL="0" indent="0">
              <a:buNone/>
            </a:pPr>
            <a:r>
              <a:rPr lang="en-US" sz="1200" b="1" dirty="0">
                <a:solidFill>
                  <a:srgbClr val="A100FF"/>
                </a:solidFill>
                <a:latin typeface="Calibri" pitchFamily="34" charset="0"/>
                <a:ea typeface="Calibri" pitchFamily="34" charset="-122"/>
                <a:cs typeface="Calibri" pitchFamily="34" charset="-120"/>
              </a:rPr>
              <a:t>Validation approach:  </a:t>
            </a:r>
            <a:r>
              <a:rPr lang="en-US" sz="1200" dirty="0">
                <a:solidFill>
                  <a:srgbClr val="FFFFFF"/>
                </a:solidFill>
                <a:latin typeface="Calibri" pitchFamily="34" charset="0"/>
                <a:ea typeface="Calibri" pitchFamily="34" charset="-122"/>
                <a:cs typeface="Calibri" pitchFamily="34" charset="-120"/>
              </a:rPr>
              <a:t>true-sensor stations are withheld during training and used to confirm that soft-sensor estimates track ground truth within an acceptable margin, before the model is trusted at fully unsensored stations</a:t>
            </a:r>
            <a:r>
              <a:rPr lang="en-US" sz="1150" dirty="0">
                <a:solidFill>
                  <a:srgbClr val="FFFFFF"/>
                </a:solidFill>
                <a:latin typeface="Calibri" pitchFamily="34" charset="0"/>
                <a:ea typeface="Calibri" pitchFamily="34" charset="-122"/>
                <a:cs typeface="Calibri" pitchFamily="34" charset="-120"/>
              </a:rPr>
              <a:t>.</a:t>
            </a:r>
            <a:endParaRPr lang="en-US" sz="1150" dirty="0"/>
          </a:p>
        </p:txBody>
      </p:sp>
      <p:sp>
        <p:nvSpPr>
          <p:cNvPr id="10" name="Text 8"/>
          <p:cNvSpPr txBox="1"/>
          <p:nvPr/>
        </p:nvSpPr>
        <p:spPr>
          <a:xfrm>
            <a:off x="548640" y="6263640"/>
            <a:ext cx="11064240" cy="457200"/>
          </a:xfrm>
          <a:prstGeom prst="rect">
            <a:avLst/>
          </a:prstGeom>
          <a:noFill/>
          <a:ln/>
        </p:spPr>
        <p:txBody>
          <a:bodyPr wrap="square" lIns="0" tIns="0" rIns="0" bIns="0" rtlCol="0" anchor="ctr"/>
          <a:lstStyle/>
          <a:p>
            <a:pPr marL="0" indent="0">
              <a:buNone/>
            </a:pPr>
            <a:endParaRPr lang="en-US" sz="1050" dirty="0"/>
          </a:p>
        </p:txBody>
      </p:sp>
      <p:sp>
        <p:nvSpPr>
          <p:cNvPr id="11" name="Text 9"/>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06</a:t>
            </a:r>
            <a:endParaRPr lang="en-US" sz="950" dirty="0"/>
          </a:p>
        </p:txBody>
      </p:sp>
      <p:sp>
        <p:nvSpPr>
          <p:cNvPr id="12" name="Shape 10"/>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6022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D9B8FF"/>
                </a:solidFill>
                <a:latin typeface="Calibri" pitchFamily="34" charset="0"/>
                <a:ea typeface="Calibri" pitchFamily="34" charset="-122"/>
                <a:cs typeface="Calibri" pitchFamily="34" charset="-120"/>
              </a:rPr>
              <a:t>DATA STRATEGY</a:t>
            </a:r>
            <a:endParaRPr lang="en-US" sz="1150" dirty="0"/>
          </a:p>
        </p:txBody>
      </p:sp>
      <p:sp>
        <p:nvSpPr>
          <p:cNvPr id="3" name="Text 1"/>
          <p:cNvSpPr txBox="1"/>
          <p:nvPr/>
        </p:nvSpPr>
        <p:spPr>
          <a:xfrm>
            <a:off x="548640" y="658368"/>
            <a:ext cx="11064240" cy="91440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Data Capture and Continuous Improvement Framework</a:t>
            </a:r>
            <a:endParaRPr lang="en-US" sz="2500" dirty="0"/>
          </a:p>
        </p:txBody>
      </p:sp>
      <p:sp>
        <p:nvSpPr>
          <p:cNvPr id="4" name="Text 2"/>
          <p:cNvSpPr txBox="1"/>
          <p:nvPr/>
        </p:nvSpPr>
        <p:spPr>
          <a:xfrm>
            <a:off x="548640" y="1536192"/>
            <a:ext cx="11064240" cy="868680"/>
          </a:xfrm>
          <a:prstGeom prst="rect">
            <a:avLst/>
          </a:prstGeom>
          <a:noFill/>
          <a:ln/>
        </p:spPr>
        <p:txBody>
          <a:bodyPr wrap="square" lIns="0" tIns="0" rIns="0" bIns="0" rtlCol="0" anchor="t"/>
          <a:lstStyle/>
          <a:p>
            <a:pPr marL="0" indent="0">
              <a:spcAft>
                <a:spcPts val="1200"/>
              </a:spcAft>
              <a:buNone/>
            </a:pPr>
            <a:r>
              <a:rPr lang="en-US" sz="1400" dirty="0">
                <a:solidFill>
                  <a:srgbClr val="E9DBFF"/>
                </a:solidFill>
                <a:latin typeface="Calibri" pitchFamily="34" charset="0"/>
                <a:ea typeface="Calibri" pitchFamily="34" charset="-122"/>
                <a:cs typeface="Calibri" pitchFamily="34" charset="-120"/>
              </a:rPr>
              <a:t>The predictive accuracy of a data-driven system of this nature is expected to improve as it is exposed to a larger and more varied set of operating conditions than any single production line can provide in isolation. This proposal therefore includes an optional, governed data collection framework intended to support the long-term robustness of the platform across deployments.</a:t>
            </a:r>
            <a:endParaRPr lang="en-US" sz="1400" dirty="0"/>
          </a:p>
        </p:txBody>
      </p:sp>
      <p:sp>
        <p:nvSpPr>
          <p:cNvPr id="5" name="Shape 3"/>
          <p:cNvSpPr/>
          <p:nvPr/>
        </p:nvSpPr>
        <p:spPr>
          <a:xfrm>
            <a:off x="548640" y="2606040"/>
            <a:ext cx="5349240" cy="1737360"/>
          </a:xfrm>
          <a:prstGeom prst="roundRect">
            <a:avLst>
              <a:gd name="adj" fmla="val 5263"/>
            </a:avLst>
          </a:prstGeom>
          <a:solidFill>
            <a:srgbClr val="260A3D"/>
          </a:solidFill>
          <a:ln/>
        </p:spPr>
        <p:txBody>
          <a:bodyPr/>
          <a:lstStyle/>
          <a:p>
            <a:endParaRPr lang="en-IN"/>
          </a:p>
        </p:txBody>
      </p:sp>
      <p:sp>
        <p:nvSpPr>
          <p:cNvPr id="6" name="Shape 4"/>
          <p:cNvSpPr/>
          <p:nvPr/>
        </p:nvSpPr>
        <p:spPr>
          <a:xfrm>
            <a:off x="749808" y="2807208"/>
            <a:ext cx="384048" cy="384048"/>
          </a:xfrm>
          <a:prstGeom prst="ellipse">
            <a:avLst/>
          </a:prstGeom>
          <a:solidFill>
            <a:srgbClr val="A100FF"/>
          </a:solidFill>
          <a:ln/>
        </p:spPr>
        <p:txBody>
          <a:bodyPr/>
          <a:lstStyle/>
          <a:p>
            <a:endParaRPr lang="en-IN"/>
          </a:p>
        </p:txBody>
      </p:sp>
      <p:sp>
        <p:nvSpPr>
          <p:cNvPr id="7" name="Text 5"/>
          <p:cNvSpPr txBox="1"/>
          <p:nvPr/>
        </p:nvSpPr>
        <p:spPr>
          <a:xfrm>
            <a:off x="749808" y="28072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280160" y="2770632"/>
            <a:ext cx="4434840" cy="457200"/>
          </a:xfrm>
          <a:prstGeom prst="rect">
            <a:avLst/>
          </a:prstGeom>
          <a:noFill/>
          <a:ln/>
        </p:spPr>
        <p:txBody>
          <a:bodyPr wrap="square" lIns="0" tIns="0" rIns="0" bIns="0" rtlCol="0" anchor="ctr"/>
          <a:lstStyle/>
          <a:p>
            <a:pPr marL="0" indent="0">
              <a:buNone/>
            </a:pPr>
            <a:r>
              <a:rPr lang="en-US" sz="1400" b="1" dirty="0">
                <a:solidFill>
                  <a:srgbClr val="D9B8FF"/>
                </a:solidFill>
                <a:latin typeface="Cambria" pitchFamily="34" charset="0"/>
                <a:ea typeface="Cambria" pitchFamily="34" charset="-122"/>
                <a:cs typeface="Cambria" pitchFamily="34" charset="-120"/>
              </a:rPr>
              <a:t>Consent-Based Participation</a:t>
            </a:r>
            <a:endParaRPr lang="en-US" sz="1400" dirty="0"/>
          </a:p>
        </p:txBody>
      </p:sp>
      <p:sp>
        <p:nvSpPr>
          <p:cNvPr id="9" name="Text 7"/>
          <p:cNvSpPr txBox="1"/>
          <p:nvPr/>
        </p:nvSpPr>
        <p:spPr>
          <a:xfrm>
            <a:off x="822960" y="3291840"/>
            <a:ext cx="480060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Any cross-site data aggregation is strictly optional and remains within the client's control, with the ability to withdraw consent and have contributed data excluded from future model training at any time.</a:t>
            </a:r>
            <a:endParaRPr lang="en-US" sz="1200" dirty="0"/>
          </a:p>
        </p:txBody>
      </p:sp>
      <p:sp>
        <p:nvSpPr>
          <p:cNvPr id="10" name="Shape 8"/>
          <p:cNvSpPr/>
          <p:nvPr/>
        </p:nvSpPr>
        <p:spPr>
          <a:xfrm>
            <a:off x="6217920" y="2606040"/>
            <a:ext cx="5349240" cy="1737360"/>
          </a:xfrm>
          <a:prstGeom prst="roundRect">
            <a:avLst>
              <a:gd name="adj" fmla="val 5263"/>
            </a:avLst>
          </a:prstGeom>
          <a:solidFill>
            <a:srgbClr val="260A3D"/>
          </a:solidFill>
          <a:ln/>
        </p:spPr>
        <p:txBody>
          <a:bodyPr/>
          <a:lstStyle/>
          <a:p>
            <a:endParaRPr lang="en-IN"/>
          </a:p>
        </p:txBody>
      </p:sp>
      <p:sp>
        <p:nvSpPr>
          <p:cNvPr id="11" name="Shape 9"/>
          <p:cNvSpPr/>
          <p:nvPr/>
        </p:nvSpPr>
        <p:spPr>
          <a:xfrm>
            <a:off x="6419088" y="2807208"/>
            <a:ext cx="384048" cy="384048"/>
          </a:xfrm>
          <a:prstGeom prst="ellipse">
            <a:avLst/>
          </a:prstGeom>
          <a:solidFill>
            <a:srgbClr val="A100FF"/>
          </a:solidFill>
          <a:ln/>
        </p:spPr>
        <p:txBody>
          <a:bodyPr/>
          <a:lstStyle/>
          <a:p>
            <a:endParaRPr lang="en-IN"/>
          </a:p>
        </p:txBody>
      </p:sp>
      <p:sp>
        <p:nvSpPr>
          <p:cNvPr id="12" name="Text 10"/>
          <p:cNvSpPr txBox="1"/>
          <p:nvPr/>
        </p:nvSpPr>
        <p:spPr>
          <a:xfrm>
            <a:off x="6419088" y="28072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6949440" y="2770632"/>
            <a:ext cx="4434840" cy="457200"/>
          </a:xfrm>
          <a:prstGeom prst="rect">
            <a:avLst/>
          </a:prstGeom>
          <a:noFill/>
          <a:ln/>
        </p:spPr>
        <p:txBody>
          <a:bodyPr wrap="square" lIns="0" tIns="0" rIns="0" bIns="0" rtlCol="0" anchor="ctr"/>
          <a:lstStyle/>
          <a:p>
            <a:pPr marL="0" indent="0">
              <a:buNone/>
            </a:pPr>
            <a:r>
              <a:rPr lang="en-US" sz="1400" b="1" dirty="0">
                <a:solidFill>
                  <a:srgbClr val="D9B8FF"/>
                </a:solidFill>
                <a:latin typeface="Cambria" pitchFamily="34" charset="0"/>
                <a:ea typeface="Cambria" pitchFamily="34" charset="-122"/>
                <a:cs typeface="Cambria" pitchFamily="34" charset="-120"/>
              </a:rPr>
              <a:t>Defined &amp; Limited Scope</a:t>
            </a:r>
            <a:endParaRPr lang="en-US" sz="1400" dirty="0"/>
          </a:p>
        </p:txBody>
      </p:sp>
      <p:sp>
        <p:nvSpPr>
          <p:cNvPr id="14" name="Text 12"/>
          <p:cNvSpPr txBox="1"/>
          <p:nvPr/>
        </p:nvSpPr>
        <p:spPr>
          <a:xfrm>
            <a:off x="6492240" y="3291840"/>
            <a:ext cx="480060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Data collected is scoped under an explicit, written data use agreement, limited to operational parameters sensor and proxy signal values, cycle timing, and confirmed quality outcomes and excludes any personally identifiable information.</a:t>
            </a:r>
            <a:endParaRPr lang="en-US" sz="1200" dirty="0"/>
          </a:p>
        </p:txBody>
      </p:sp>
      <p:sp>
        <p:nvSpPr>
          <p:cNvPr id="15" name="Shape 13"/>
          <p:cNvSpPr/>
          <p:nvPr/>
        </p:nvSpPr>
        <p:spPr>
          <a:xfrm>
            <a:off x="548640" y="4526280"/>
            <a:ext cx="5349240" cy="1737360"/>
          </a:xfrm>
          <a:prstGeom prst="roundRect">
            <a:avLst>
              <a:gd name="adj" fmla="val 5263"/>
            </a:avLst>
          </a:prstGeom>
          <a:solidFill>
            <a:srgbClr val="260A3D"/>
          </a:solidFill>
          <a:ln/>
        </p:spPr>
        <p:txBody>
          <a:bodyPr/>
          <a:lstStyle/>
          <a:p>
            <a:endParaRPr lang="en-IN"/>
          </a:p>
        </p:txBody>
      </p:sp>
      <p:sp>
        <p:nvSpPr>
          <p:cNvPr id="16" name="Shape 14"/>
          <p:cNvSpPr/>
          <p:nvPr/>
        </p:nvSpPr>
        <p:spPr>
          <a:xfrm>
            <a:off x="749808" y="4727448"/>
            <a:ext cx="384048" cy="384048"/>
          </a:xfrm>
          <a:prstGeom prst="ellipse">
            <a:avLst/>
          </a:prstGeom>
          <a:solidFill>
            <a:srgbClr val="A100FF"/>
          </a:solidFill>
          <a:ln/>
        </p:spPr>
        <p:txBody>
          <a:bodyPr/>
          <a:lstStyle/>
          <a:p>
            <a:endParaRPr lang="en-IN"/>
          </a:p>
        </p:txBody>
      </p:sp>
      <p:sp>
        <p:nvSpPr>
          <p:cNvPr id="17" name="Text 15"/>
          <p:cNvSpPr txBox="1"/>
          <p:nvPr/>
        </p:nvSpPr>
        <p:spPr>
          <a:xfrm>
            <a:off x="749808" y="4727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1280160" y="4690872"/>
            <a:ext cx="4434840" cy="457200"/>
          </a:xfrm>
          <a:prstGeom prst="rect">
            <a:avLst/>
          </a:prstGeom>
          <a:noFill/>
          <a:ln/>
        </p:spPr>
        <p:txBody>
          <a:bodyPr wrap="square" lIns="0" tIns="0" rIns="0" bIns="0" rtlCol="0" anchor="ctr"/>
          <a:lstStyle/>
          <a:p>
            <a:pPr marL="0" indent="0">
              <a:buNone/>
            </a:pPr>
            <a:r>
              <a:rPr lang="en-US" sz="1400" b="1" dirty="0">
                <a:solidFill>
                  <a:srgbClr val="D9B8FF"/>
                </a:solidFill>
                <a:latin typeface="Cambria" pitchFamily="34" charset="0"/>
                <a:ea typeface="Cambria" pitchFamily="34" charset="-122"/>
                <a:cs typeface="Cambria" pitchFamily="34" charset="-120"/>
              </a:rPr>
              <a:t>Anonymisation at Source</a:t>
            </a:r>
            <a:endParaRPr lang="en-US" sz="1400" dirty="0"/>
          </a:p>
        </p:txBody>
      </p:sp>
      <p:sp>
        <p:nvSpPr>
          <p:cNvPr id="19" name="Text 17"/>
          <p:cNvSpPr txBox="1"/>
          <p:nvPr/>
        </p:nvSpPr>
        <p:spPr>
          <a:xfrm>
            <a:off x="822960" y="5212080"/>
            <a:ext cx="480060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All data used for centralised model improvement is anonymised at the point of collection, with plant and unit identifiers removed prior to storage.</a:t>
            </a:r>
            <a:endParaRPr lang="en-US" sz="1200" dirty="0"/>
          </a:p>
        </p:txBody>
      </p:sp>
      <p:sp>
        <p:nvSpPr>
          <p:cNvPr id="20" name="Shape 18"/>
          <p:cNvSpPr/>
          <p:nvPr/>
        </p:nvSpPr>
        <p:spPr>
          <a:xfrm>
            <a:off x="6217920" y="4526280"/>
            <a:ext cx="5349240" cy="1737360"/>
          </a:xfrm>
          <a:prstGeom prst="roundRect">
            <a:avLst>
              <a:gd name="adj" fmla="val 5263"/>
            </a:avLst>
          </a:prstGeom>
          <a:solidFill>
            <a:srgbClr val="260A3D"/>
          </a:solidFill>
          <a:ln/>
        </p:spPr>
        <p:txBody>
          <a:bodyPr/>
          <a:lstStyle/>
          <a:p>
            <a:endParaRPr lang="en-IN"/>
          </a:p>
        </p:txBody>
      </p:sp>
      <p:sp>
        <p:nvSpPr>
          <p:cNvPr id="21" name="Shape 19"/>
          <p:cNvSpPr/>
          <p:nvPr/>
        </p:nvSpPr>
        <p:spPr>
          <a:xfrm>
            <a:off x="6419088" y="4727448"/>
            <a:ext cx="384048" cy="384048"/>
          </a:xfrm>
          <a:prstGeom prst="ellipse">
            <a:avLst/>
          </a:prstGeom>
          <a:solidFill>
            <a:srgbClr val="A100FF"/>
          </a:solidFill>
          <a:ln/>
        </p:spPr>
        <p:txBody>
          <a:bodyPr/>
          <a:lstStyle/>
          <a:p>
            <a:endParaRPr lang="en-IN"/>
          </a:p>
        </p:txBody>
      </p:sp>
      <p:sp>
        <p:nvSpPr>
          <p:cNvPr id="22" name="Text 20"/>
          <p:cNvSpPr txBox="1"/>
          <p:nvPr/>
        </p:nvSpPr>
        <p:spPr>
          <a:xfrm>
            <a:off x="6419088" y="4727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6949440" y="4690872"/>
            <a:ext cx="4434840" cy="457200"/>
          </a:xfrm>
          <a:prstGeom prst="rect">
            <a:avLst/>
          </a:prstGeom>
          <a:noFill/>
          <a:ln/>
        </p:spPr>
        <p:txBody>
          <a:bodyPr wrap="square" lIns="0" tIns="0" rIns="0" bIns="0" rtlCol="0" anchor="ctr"/>
          <a:lstStyle/>
          <a:p>
            <a:pPr marL="0" indent="0">
              <a:buNone/>
            </a:pPr>
            <a:r>
              <a:rPr lang="en-US" sz="1400" b="1" dirty="0">
                <a:solidFill>
                  <a:srgbClr val="D9B8FF"/>
                </a:solidFill>
                <a:latin typeface="Cambria" pitchFamily="34" charset="0"/>
                <a:ea typeface="Cambria" pitchFamily="34" charset="-122"/>
                <a:cs typeface="Cambria" pitchFamily="34" charset="-120"/>
              </a:rPr>
              <a:t>Independent Base Deployment</a:t>
            </a:r>
            <a:endParaRPr lang="en-US" sz="1400" dirty="0"/>
          </a:p>
        </p:txBody>
      </p:sp>
      <p:sp>
        <p:nvSpPr>
          <p:cNvPr id="24" name="Text 22"/>
          <p:cNvSpPr txBox="1"/>
          <p:nvPr/>
        </p:nvSpPr>
        <p:spPr>
          <a:xfrm>
            <a:off x="6492240" y="5212080"/>
            <a:ext cx="480060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The base solution is fully functional using only a client's own operating data, retained within their own environment, without any requirement to participate in cross-site data sharing.</a:t>
            </a:r>
            <a:endParaRPr lang="en-US" sz="1200" dirty="0"/>
          </a:p>
        </p:txBody>
      </p:sp>
      <p:sp>
        <p:nvSpPr>
          <p:cNvPr id="25" name="Text 23"/>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C9AEE8"/>
                </a:solidFill>
                <a:latin typeface="Calibri" pitchFamily="34" charset="0"/>
                <a:ea typeface="Calibri" pitchFamily="34" charset="-122"/>
                <a:cs typeface="Calibri" pitchFamily="34" charset="-120"/>
              </a:rPr>
              <a:t>07</a:t>
            </a:r>
            <a:endParaRPr lang="en-US" sz="950" dirty="0"/>
          </a:p>
        </p:txBody>
      </p:sp>
      <p:sp>
        <p:nvSpPr>
          <p:cNvPr id="26" name="Shape 24"/>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STAKEHOLDER VALUE</a:t>
            </a:r>
            <a:endParaRPr lang="en-US" sz="1150" dirty="0"/>
          </a:p>
        </p:txBody>
      </p:sp>
      <p:sp>
        <p:nvSpPr>
          <p:cNvPr id="3" name="Text 1"/>
          <p:cNvSpPr txBox="1"/>
          <p:nvPr/>
        </p:nvSpPr>
        <p:spPr>
          <a:xfrm>
            <a:off x="548640" y="658368"/>
            <a:ext cx="10515600" cy="777240"/>
          </a:xfrm>
          <a:prstGeom prst="rect">
            <a:avLst/>
          </a:prstGeom>
          <a:noFill/>
          <a:ln/>
        </p:spPr>
        <p:txBody>
          <a:bodyPr wrap="square" lIns="0" tIns="0" rIns="0" bIns="0" rtlCol="0" anchor="ctr"/>
          <a:lstStyle/>
          <a:p>
            <a:pPr marL="0" indent="0">
              <a:buNone/>
            </a:pPr>
            <a:r>
              <a:rPr lang="en-US" sz="2700" b="1" dirty="0">
                <a:solidFill>
                  <a:srgbClr val="231A2E"/>
                </a:solidFill>
                <a:latin typeface="Cambria" pitchFamily="34" charset="0"/>
                <a:ea typeface="Cambria" pitchFamily="34" charset="-122"/>
                <a:cs typeface="Cambria" pitchFamily="34" charset="-120"/>
              </a:rPr>
              <a:t>A Single Model, Serving Three Operating Perspectives</a:t>
            </a:r>
            <a:endParaRPr lang="en-US" sz="2700" dirty="0"/>
          </a:p>
        </p:txBody>
      </p:sp>
      <p:sp>
        <p:nvSpPr>
          <p:cNvPr id="4" name="Text 2"/>
          <p:cNvSpPr txBox="1"/>
          <p:nvPr/>
        </p:nvSpPr>
        <p:spPr>
          <a:xfrm>
            <a:off x="548640" y="1463040"/>
            <a:ext cx="10698480" cy="548640"/>
          </a:xfrm>
          <a:prstGeom prst="rect">
            <a:avLst/>
          </a:prstGeom>
          <a:noFill/>
          <a:ln/>
        </p:spPr>
        <p:txBody>
          <a:bodyPr wrap="square" lIns="0" tIns="0" rIns="0" bIns="0" rtlCol="0" anchor="ctr"/>
          <a:lstStyle/>
          <a:p>
            <a:pPr marL="0" indent="0">
              <a:buNone/>
            </a:pPr>
            <a:r>
              <a:rPr lang="en-US" sz="1400" dirty="0">
                <a:solidFill>
                  <a:srgbClr val="231A2E"/>
                </a:solidFill>
                <a:latin typeface="Calibri" pitchFamily="34" charset="0"/>
                <a:ea typeface="Calibri" pitchFamily="34" charset="-122"/>
                <a:cs typeface="Calibri" pitchFamily="34" charset="-120"/>
              </a:rPr>
              <a:t>The underlying forecasting model is shared across the organisation, but its output is presented differently to each role, in keeping with the decision that role is responsible for making.</a:t>
            </a:r>
            <a:endParaRPr lang="en-US" sz="1400" dirty="0"/>
          </a:p>
        </p:txBody>
      </p:sp>
      <p:sp>
        <p:nvSpPr>
          <p:cNvPr id="5" name="Shape 3"/>
          <p:cNvSpPr/>
          <p:nvPr/>
        </p:nvSpPr>
        <p:spPr>
          <a:xfrm>
            <a:off x="548640" y="2194560"/>
            <a:ext cx="3566160" cy="3840480"/>
          </a:xfrm>
          <a:prstGeom prst="roundRect">
            <a:avLst>
              <a:gd name="adj" fmla="val 3077"/>
            </a:avLst>
          </a:prstGeom>
          <a:solidFill>
            <a:srgbClr val="FFFFFF"/>
          </a:solidFill>
          <a:ln w="15875">
            <a:solidFill>
              <a:srgbClr val="E3CFFF"/>
            </a:solidFill>
            <a:prstDash val="solid"/>
          </a:ln>
        </p:spPr>
        <p:txBody>
          <a:bodyPr/>
          <a:lstStyle/>
          <a:p>
            <a:endParaRPr lang="en-IN"/>
          </a:p>
        </p:txBody>
      </p:sp>
      <p:sp>
        <p:nvSpPr>
          <p:cNvPr id="6" name="Shape 4"/>
          <p:cNvSpPr/>
          <p:nvPr/>
        </p:nvSpPr>
        <p:spPr>
          <a:xfrm>
            <a:off x="1920240" y="2468880"/>
            <a:ext cx="822960" cy="822960"/>
          </a:xfrm>
          <a:prstGeom prst="ellipse">
            <a:avLst/>
          </a:prstGeom>
          <a:solidFill>
            <a:srgbClr val="A100FF"/>
          </a:solidFill>
          <a:ln/>
        </p:spPr>
        <p:txBody>
          <a:bodyPr/>
          <a:lstStyle/>
          <a:p>
            <a:endParaRPr lang="en-IN"/>
          </a:p>
        </p:txBody>
      </p:sp>
      <p:sp>
        <p:nvSpPr>
          <p:cNvPr id="7" name="Text 5"/>
          <p:cNvSpPr txBox="1"/>
          <p:nvPr/>
        </p:nvSpPr>
        <p:spPr>
          <a:xfrm>
            <a:off x="1920240" y="246888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FS</a:t>
            </a:r>
            <a:endParaRPr lang="en-US" sz="2000" dirty="0"/>
          </a:p>
        </p:txBody>
      </p:sp>
      <p:sp>
        <p:nvSpPr>
          <p:cNvPr id="8" name="Text 6"/>
          <p:cNvSpPr txBox="1"/>
          <p:nvPr/>
        </p:nvSpPr>
        <p:spPr>
          <a:xfrm>
            <a:off x="731520" y="3429000"/>
            <a:ext cx="3200400" cy="365760"/>
          </a:xfrm>
          <a:prstGeom prst="rect">
            <a:avLst/>
          </a:prstGeom>
          <a:noFill/>
          <a:ln/>
        </p:spPr>
        <p:txBody>
          <a:bodyPr wrap="square" lIns="0" tIns="0" rIns="0" bIns="0" rtlCol="0" anchor="ctr"/>
          <a:lstStyle/>
          <a:p>
            <a:pPr marL="0" indent="0" algn="ctr">
              <a:buNone/>
            </a:pPr>
            <a:r>
              <a:rPr lang="en-US" sz="1600" b="1" dirty="0">
                <a:solidFill>
                  <a:srgbClr val="6E00B3"/>
                </a:solidFill>
                <a:latin typeface="Cambria" pitchFamily="34" charset="0"/>
                <a:ea typeface="Cambria" pitchFamily="34" charset="-122"/>
                <a:cs typeface="Cambria" pitchFamily="34" charset="-120"/>
              </a:rPr>
              <a:t>Floor Supervisor</a:t>
            </a:r>
            <a:endParaRPr lang="en-US" sz="1600" dirty="0"/>
          </a:p>
        </p:txBody>
      </p:sp>
      <p:sp>
        <p:nvSpPr>
          <p:cNvPr id="9" name="Text 7"/>
          <p:cNvSpPr txBox="1"/>
          <p:nvPr/>
        </p:nvSpPr>
        <p:spPr>
          <a:xfrm>
            <a:off x="731520" y="3794760"/>
            <a:ext cx="3200400" cy="274320"/>
          </a:xfrm>
          <a:prstGeom prst="rect">
            <a:avLst/>
          </a:prstGeom>
          <a:noFill/>
          <a:ln/>
        </p:spPr>
        <p:txBody>
          <a:bodyPr wrap="square" lIns="0" tIns="0" rIns="0" bIns="0" rtlCol="0" anchor="ctr"/>
          <a:lstStyle/>
          <a:p>
            <a:pPr marL="0" indent="0" algn="ctr">
              <a:buNone/>
            </a:pPr>
            <a:r>
              <a:rPr lang="en-US" sz="950" b="1" kern="0" spc="100" dirty="0">
                <a:solidFill>
                  <a:srgbClr val="6E6478"/>
                </a:solidFill>
                <a:latin typeface="Calibri" pitchFamily="34" charset="0"/>
                <a:ea typeface="Calibri" pitchFamily="34" charset="-122"/>
                <a:cs typeface="Calibri" pitchFamily="34" charset="-120"/>
              </a:rPr>
              <a:t>REAL-TIME OPERATING VIEW</a:t>
            </a:r>
            <a:endParaRPr lang="en-US" sz="950" dirty="0"/>
          </a:p>
        </p:txBody>
      </p:sp>
      <p:sp>
        <p:nvSpPr>
          <p:cNvPr id="10" name="Text 8"/>
          <p:cNvSpPr txBox="1"/>
          <p:nvPr/>
        </p:nvSpPr>
        <p:spPr>
          <a:xfrm>
            <a:off x="804672" y="4160520"/>
            <a:ext cx="3054096" cy="1737360"/>
          </a:xfrm>
          <a:prstGeom prst="rect">
            <a:avLst/>
          </a:prstGeom>
          <a:noFill/>
          <a:ln/>
        </p:spPr>
        <p:txBody>
          <a:bodyPr wrap="square" lIns="0" tIns="0" rIns="0" bIns="0" rtlCol="0" anchor="t"/>
          <a:lstStyle/>
          <a:p>
            <a:pPr marL="0" indent="0" algn="ctr">
              <a:buNone/>
            </a:pPr>
            <a:r>
              <a:rPr lang="en-US" sz="1200" dirty="0">
                <a:solidFill>
                  <a:srgbClr val="231A2E"/>
                </a:solidFill>
                <a:latin typeface="Calibri" pitchFamily="34" charset="0"/>
                <a:ea typeface="Calibri" pitchFamily="34" charset="-122"/>
                <a:cs typeface="Calibri" pitchFamily="34" charset="-120"/>
              </a:rPr>
              <a:t>Receives live alerts at the moment a station begins to drift from its expected pattern, accompanied by a plain-language explanation and a recommended immediate action, formatted for review within seconds during an active shift.</a:t>
            </a:r>
            <a:endParaRPr lang="en-US" sz="1200" dirty="0"/>
          </a:p>
        </p:txBody>
      </p:sp>
      <p:sp>
        <p:nvSpPr>
          <p:cNvPr id="11" name="Shape 9"/>
          <p:cNvSpPr/>
          <p:nvPr/>
        </p:nvSpPr>
        <p:spPr>
          <a:xfrm>
            <a:off x="4297680" y="2194560"/>
            <a:ext cx="3566160" cy="3840480"/>
          </a:xfrm>
          <a:prstGeom prst="roundRect">
            <a:avLst>
              <a:gd name="adj" fmla="val 3077"/>
            </a:avLst>
          </a:prstGeom>
          <a:solidFill>
            <a:srgbClr val="F4EBFF"/>
          </a:solidFill>
          <a:ln w="15875">
            <a:solidFill>
              <a:srgbClr val="E3CFFF"/>
            </a:solidFill>
            <a:prstDash val="solid"/>
          </a:ln>
        </p:spPr>
        <p:txBody>
          <a:bodyPr/>
          <a:lstStyle/>
          <a:p>
            <a:endParaRPr lang="en-IN"/>
          </a:p>
        </p:txBody>
      </p:sp>
      <p:sp>
        <p:nvSpPr>
          <p:cNvPr id="12" name="Shape 10"/>
          <p:cNvSpPr/>
          <p:nvPr/>
        </p:nvSpPr>
        <p:spPr>
          <a:xfrm>
            <a:off x="5669280" y="2468880"/>
            <a:ext cx="822960" cy="822960"/>
          </a:xfrm>
          <a:prstGeom prst="ellipse">
            <a:avLst/>
          </a:prstGeom>
          <a:solidFill>
            <a:srgbClr val="A100FF"/>
          </a:solidFill>
          <a:ln/>
        </p:spPr>
        <p:txBody>
          <a:bodyPr/>
          <a:lstStyle/>
          <a:p>
            <a:endParaRPr lang="en-IN"/>
          </a:p>
        </p:txBody>
      </p:sp>
      <p:sp>
        <p:nvSpPr>
          <p:cNvPr id="13" name="Text 11"/>
          <p:cNvSpPr txBox="1"/>
          <p:nvPr/>
        </p:nvSpPr>
        <p:spPr>
          <a:xfrm>
            <a:off x="5669280" y="246888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PM</a:t>
            </a:r>
            <a:endParaRPr lang="en-US" sz="2000" dirty="0"/>
          </a:p>
        </p:txBody>
      </p:sp>
      <p:sp>
        <p:nvSpPr>
          <p:cNvPr id="14" name="Text 12"/>
          <p:cNvSpPr txBox="1"/>
          <p:nvPr/>
        </p:nvSpPr>
        <p:spPr>
          <a:xfrm>
            <a:off x="4480560" y="3429000"/>
            <a:ext cx="3200400" cy="365760"/>
          </a:xfrm>
          <a:prstGeom prst="rect">
            <a:avLst/>
          </a:prstGeom>
          <a:noFill/>
          <a:ln/>
        </p:spPr>
        <p:txBody>
          <a:bodyPr wrap="square" lIns="0" tIns="0" rIns="0" bIns="0" rtlCol="0" anchor="ctr"/>
          <a:lstStyle/>
          <a:p>
            <a:pPr marL="0" indent="0" algn="ctr">
              <a:buNone/>
            </a:pPr>
            <a:r>
              <a:rPr lang="en-US" sz="1600" b="1" dirty="0">
                <a:solidFill>
                  <a:srgbClr val="6E00B3"/>
                </a:solidFill>
                <a:latin typeface="Cambria" pitchFamily="34" charset="0"/>
                <a:ea typeface="Cambria" pitchFamily="34" charset="-122"/>
                <a:cs typeface="Cambria" pitchFamily="34" charset="-120"/>
              </a:rPr>
              <a:t>Plant Manager</a:t>
            </a:r>
            <a:endParaRPr lang="en-US" sz="1600" dirty="0"/>
          </a:p>
        </p:txBody>
      </p:sp>
      <p:sp>
        <p:nvSpPr>
          <p:cNvPr id="15" name="Text 13"/>
          <p:cNvSpPr txBox="1"/>
          <p:nvPr/>
        </p:nvSpPr>
        <p:spPr>
          <a:xfrm>
            <a:off x="4480560" y="3794760"/>
            <a:ext cx="3200400" cy="274320"/>
          </a:xfrm>
          <a:prstGeom prst="rect">
            <a:avLst/>
          </a:prstGeom>
          <a:noFill/>
          <a:ln/>
        </p:spPr>
        <p:txBody>
          <a:bodyPr wrap="square" lIns="0" tIns="0" rIns="0" bIns="0" rtlCol="0" anchor="ctr"/>
          <a:lstStyle/>
          <a:p>
            <a:pPr marL="0" indent="0" algn="ctr">
              <a:buNone/>
            </a:pPr>
            <a:r>
              <a:rPr lang="en-US" sz="950" b="1" kern="0" spc="100" dirty="0">
                <a:solidFill>
                  <a:srgbClr val="6E6478"/>
                </a:solidFill>
                <a:latin typeface="Calibri" pitchFamily="34" charset="0"/>
                <a:ea typeface="Calibri" pitchFamily="34" charset="-122"/>
                <a:cs typeface="Calibri" pitchFamily="34" charset="-120"/>
              </a:rPr>
              <a:t> PLANNING VIEW</a:t>
            </a:r>
            <a:endParaRPr lang="en-US" sz="950" dirty="0"/>
          </a:p>
        </p:txBody>
      </p:sp>
      <p:sp>
        <p:nvSpPr>
          <p:cNvPr id="16" name="Text 14"/>
          <p:cNvSpPr txBox="1"/>
          <p:nvPr/>
        </p:nvSpPr>
        <p:spPr>
          <a:xfrm>
            <a:off x="4553712" y="4160520"/>
            <a:ext cx="3054096" cy="1737360"/>
          </a:xfrm>
          <a:prstGeom prst="rect">
            <a:avLst/>
          </a:prstGeom>
          <a:noFill/>
          <a:ln/>
        </p:spPr>
        <p:txBody>
          <a:bodyPr wrap="square" lIns="0" tIns="0" rIns="0" bIns="0" rtlCol="0" anchor="t"/>
          <a:lstStyle/>
          <a:p>
            <a:pPr marL="0" indent="0" algn="ctr">
              <a:buNone/>
            </a:pPr>
            <a:r>
              <a:rPr lang="en-US" sz="1200" dirty="0">
                <a:solidFill>
                  <a:srgbClr val="231A2E"/>
                </a:solidFill>
                <a:latin typeface="Calibri" pitchFamily="34" charset="0"/>
                <a:ea typeface="Calibri" pitchFamily="34" charset="-122"/>
                <a:cs typeface="Calibri" pitchFamily="34" charset="-120"/>
              </a:rPr>
              <a:t>Reviews trends across stations and shifts, tracks recurring problem areas, and schedules maintenance windows in line with patterns the twin has been forecasting over the preceding period.</a:t>
            </a:r>
            <a:endParaRPr lang="en-US" sz="1200" dirty="0"/>
          </a:p>
        </p:txBody>
      </p:sp>
      <p:sp>
        <p:nvSpPr>
          <p:cNvPr id="17" name="Shape 15"/>
          <p:cNvSpPr/>
          <p:nvPr/>
        </p:nvSpPr>
        <p:spPr>
          <a:xfrm>
            <a:off x="8046720" y="2194560"/>
            <a:ext cx="3566160" cy="3840480"/>
          </a:xfrm>
          <a:prstGeom prst="roundRect">
            <a:avLst>
              <a:gd name="adj" fmla="val 3077"/>
            </a:avLst>
          </a:prstGeom>
          <a:solidFill>
            <a:srgbClr val="FFFFFF"/>
          </a:solidFill>
          <a:ln w="15875">
            <a:solidFill>
              <a:srgbClr val="E3CFFF"/>
            </a:solidFill>
            <a:prstDash val="solid"/>
          </a:ln>
        </p:spPr>
        <p:txBody>
          <a:bodyPr/>
          <a:lstStyle/>
          <a:p>
            <a:endParaRPr lang="en-IN"/>
          </a:p>
        </p:txBody>
      </p:sp>
      <p:sp>
        <p:nvSpPr>
          <p:cNvPr id="18" name="Shape 16"/>
          <p:cNvSpPr/>
          <p:nvPr/>
        </p:nvSpPr>
        <p:spPr>
          <a:xfrm>
            <a:off x="9418320" y="2468880"/>
            <a:ext cx="822960" cy="822960"/>
          </a:xfrm>
          <a:prstGeom prst="ellipse">
            <a:avLst/>
          </a:prstGeom>
          <a:solidFill>
            <a:srgbClr val="A100FF"/>
          </a:solidFill>
          <a:ln/>
        </p:spPr>
        <p:txBody>
          <a:bodyPr/>
          <a:lstStyle/>
          <a:p>
            <a:endParaRPr lang="en-IN"/>
          </a:p>
        </p:txBody>
      </p:sp>
      <p:sp>
        <p:nvSpPr>
          <p:cNvPr id="19" name="Text 17"/>
          <p:cNvSpPr txBox="1"/>
          <p:nvPr/>
        </p:nvSpPr>
        <p:spPr>
          <a:xfrm>
            <a:off x="9418320" y="246888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LD</a:t>
            </a:r>
            <a:endParaRPr lang="en-US" sz="2000" dirty="0"/>
          </a:p>
        </p:txBody>
      </p:sp>
      <p:sp>
        <p:nvSpPr>
          <p:cNvPr id="20" name="Text 18"/>
          <p:cNvSpPr txBox="1"/>
          <p:nvPr/>
        </p:nvSpPr>
        <p:spPr>
          <a:xfrm>
            <a:off x="8229600" y="3429000"/>
            <a:ext cx="3200400" cy="365760"/>
          </a:xfrm>
          <a:prstGeom prst="rect">
            <a:avLst/>
          </a:prstGeom>
          <a:noFill/>
          <a:ln/>
        </p:spPr>
        <p:txBody>
          <a:bodyPr wrap="square" lIns="0" tIns="0" rIns="0" bIns="0" rtlCol="0" anchor="ctr"/>
          <a:lstStyle/>
          <a:p>
            <a:pPr marL="0" indent="0" algn="ctr">
              <a:buNone/>
            </a:pPr>
            <a:r>
              <a:rPr lang="en-US" sz="1600" b="1" dirty="0">
                <a:solidFill>
                  <a:srgbClr val="6E00B3"/>
                </a:solidFill>
                <a:latin typeface="Cambria" pitchFamily="34" charset="0"/>
                <a:ea typeface="Cambria" pitchFamily="34" charset="-122"/>
                <a:cs typeface="Cambria" pitchFamily="34" charset="-120"/>
              </a:rPr>
              <a:t>Leadership</a:t>
            </a:r>
            <a:endParaRPr lang="en-US" sz="1600" dirty="0"/>
          </a:p>
        </p:txBody>
      </p:sp>
      <p:sp>
        <p:nvSpPr>
          <p:cNvPr id="21" name="Text 19"/>
          <p:cNvSpPr txBox="1"/>
          <p:nvPr/>
        </p:nvSpPr>
        <p:spPr>
          <a:xfrm>
            <a:off x="8229600" y="3794760"/>
            <a:ext cx="3200400" cy="274320"/>
          </a:xfrm>
          <a:prstGeom prst="rect">
            <a:avLst/>
          </a:prstGeom>
          <a:noFill/>
          <a:ln/>
        </p:spPr>
        <p:txBody>
          <a:bodyPr wrap="square" lIns="0" tIns="0" rIns="0" bIns="0" rtlCol="0" anchor="ctr"/>
          <a:lstStyle/>
          <a:p>
            <a:pPr marL="0" indent="0" algn="ctr">
              <a:buNone/>
            </a:pPr>
            <a:r>
              <a:rPr lang="en-US" sz="950" b="1" kern="0" spc="100" dirty="0">
                <a:solidFill>
                  <a:srgbClr val="6E6478"/>
                </a:solidFill>
                <a:latin typeface="Calibri" pitchFamily="34" charset="0"/>
                <a:ea typeface="Calibri" pitchFamily="34" charset="-122"/>
                <a:cs typeface="Calibri" pitchFamily="34" charset="-120"/>
              </a:rPr>
              <a:t>STRATEGIC INVESTMENT VIEW</a:t>
            </a:r>
            <a:endParaRPr lang="en-US" sz="950" dirty="0"/>
          </a:p>
        </p:txBody>
      </p:sp>
      <p:sp>
        <p:nvSpPr>
          <p:cNvPr id="22" name="Text 20"/>
          <p:cNvSpPr txBox="1"/>
          <p:nvPr/>
        </p:nvSpPr>
        <p:spPr>
          <a:xfrm>
            <a:off x="8302752" y="4160520"/>
            <a:ext cx="3054096" cy="1737360"/>
          </a:xfrm>
          <a:prstGeom prst="rect">
            <a:avLst/>
          </a:prstGeom>
          <a:noFill/>
          <a:ln/>
        </p:spPr>
        <p:txBody>
          <a:bodyPr wrap="square" lIns="0" tIns="0" rIns="0" bIns="0" rtlCol="0" anchor="t"/>
          <a:lstStyle/>
          <a:p>
            <a:pPr marL="0" indent="0" algn="ctr">
              <a:buNone/>
            </a:pPr>
            <a:r>
              <a:rPr lang="en-US" sz="1200" dirty="0">
                <a:solidFill>
                  <a:srgbClr val="231A2E"/>
                </a:solidFill>
                <a:latin typeface="Calibri" pitchFamily="34" charset="0"/>
                <a:ea typeface="Calibri" pitchFamily="34" charset="-122"/>
                <a:cs typeface="Calibri" pitchFamily="34" charset="-120"/>
              </a:rPr>
              <a:t>Receives a consolidated business case summarising cost avoided, uptime gained, and return on investment, to support decisions on extending the platform to additional lines and plants.</a:t>
            </a:r>
          </a:p>
          <a:p>
            <a:pPr marL="0" indent="0" algn="ctr">
              <a:buNone/>
            </a:pPr>
            <a:r>
              <a:rPr lang="en-US" sz="1200" dirty="0">
                <a:solidFill>
                  <a:srgbClr val="231A2E"/>
                </a:solidFill>
                <a:latin typeface="Calibri" pitchFamily="34" charset="0"/>
                <a:ea typeface="Calibri" pitchFamily="34" charset="-122"/>
                <a:cs typeface="Calibri" pitchFamily="34" charset="-120"/>
              </a:rPr>
              <a:t>Later, NLP model can be used to make this more dynamic and user centric.</a:t>
            </a:r>
            <a:endParaRPr lang="en-US" sz="1200" dirty="0"/>
          </a:p>
        </p:txBody>
      </p:sp>
      <p:sp>
        <p:nvSpPr>
          <p:cNvPr id="23" name="Text 21"/>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08</a:t>
            </a:r>
            <a:endParaRPr lang="en-US" sz="950" dirty="0"/>
          </a:p>
        </p:txBody>
      </p:sp>
      <p:sp>
        <p:nvSpPr>
          <p:cNvPr id="24" name="Shape 22"/>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BUSINESS CASE &amp; FINANCIAL IMPACT</a:t>
            </a:r>
            <a:endParaRPr lang="en-US" sz="1150" dirty="0"/>
          </a:p>
        </p:txBody>
      </p:sp>
      <p:sp>
        <p:nvSpPr>
          <p:cNvPr id="3" name="Text 1"/>
          <p:cNvSpPr txBox="1"/>
          <p:nvPr/>
        </p:nvSpPr>
        <p:spPr>
          <a:xfrm>
            <a:off x="548640" y="658368"/>
            <a:ext cx="10058400" cy="777240"/>
          </a:xfrm>
          <a:prstGeom prst="rect">
            <a:avLst/>
          </a:prstGeom>
          <a:noFill/>
          <a:ln/>
        </p:spPr>
        <p:txBody>
          <a:bodyPr wrap="square" lIns="0" tIns="0" rIns="0" bIns="0" rtlCol="0" anchor="ctr"/>
          <a:lstStyle/>
          <a:p>
            <a:pPr marL="0" indent="0">
              <a:buNone/>
            </a:pPr>
            <a:r>
              <a:rPr lang="en-US" sz="2800" b="1" dirty="0">
                <a:solidFill>
                  <a:srgbClr val="231A2E"/>
                </a:solidFill>
                <a:latin typeface="Cambria" pitchFamily="34" charset="0"/>
                <a:ea typeface="Cambria" pitchFamily="34" charset="-122"/>
                <a:cs typeface="Cambria" pitchFamily="34" charset="-120"/>
              </a:rPr>
              <a:t>The Financial Rationale for Early Detection</a:t>
            </a:r>
            <a:endParaRPr lang="en-US" sz="2800" dirty="0"/>
          </a:p>
        </p:txBody>
      </p:sp>
      <p:graphicFrame>
        <p:nvGraphicFramePr>
          <p:cNvPr id="4" name="Chart 0"/>
          <p:cNvGraphicFramePr/>
          <p:nvPr/>
        </p:nvGraphicFramePr>
        <p:xfrm>
          <a:off x="548640" y="1691640"/>
          <a:ext cx="46634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23560" y="1828800"/>
            <a:ext cx="137160" cy="137160"/>
          </a:xfrm>
          <a:prstGeom prst="ellipse">
            <a:avLst/>
          </a:prstGeom>
          <a:solidFill>
            <a:srgbClr val="A100FF"/>
          </a:solidFill>
          <a:ln/>
        </p:spPr>
        <p:txBody>
          <a:bodyPr/>
          <a:lstStyle/>
          <a:p>
            <a:endParaRPr lang="en-IN"/>
          </a:p>
        </p:txBody>
      </p:sp>
      <p:sp>
        <p:nvSpPr>
          <p:cNvPr id="6" name="Text 3"/>
          <p:cNvSpPr txBox="1"/>
          <p:nvPr/>
        </p:nvSpPr>
        <p:spPr>
          <a:xfrm>
            <a:off x="5897880" y="1664208"/>
            <a:ext cx="5577840" cy="365760"/>
          </a:xfrm>
          <a:prstGeom prst="rect">
            <a:avLst/>
          </a:prstGeom>
          <a:noFill/>
          <a:ln/>
        </p:spPr>
        <p:txBody>
          <a:bodyPr wrap="square" lIns="0" tIns="0" rIns="0" bIns="0" rtlCol="0" anchor="ctr"/>
          <a:lstStyle/>
          <a:p>
            <a:pPr marL="0" indent="0">
              <a:buNone/>
            </a:pPr>
            <a:r>
              <a:rPr lang="en-US" sz="1350" b="1" dirty="0">
                <a:solidFill>
                  <a:srgbClr val="6E00B3"/>
                </a:solidFill>
                <a:latin typeface="Cambria" pitchFamily="34" charset="0"/>
                <a:ea typeface="Cambria" pitchFamily="34" charset="-122"/>
                <a:cs typeface="Cambria" pitchFamily="34" charset="-120"/>
              </a:rPr>
              <a:t>Reduced downtime exposure</a:t>
            </a:r>
            <a:endParaRPr lang="en-US" sz="1350" dirty="0"/>
          </a:p>
        </p:txBody>
      </p:sp>
      <p:sp>
        <p:nvSpPr>
          <p:cNvPr id="7" name="Text 4"/>
          <p:cNvSpPr txBox="1"/>
          <p:nvPr/>
        </p:nvSpPr>
        <p:spPr>
          <a:xfrm>
            <a:off x="5897880" y="2020824"/>
            <a:ext cx="5760720" cy="868680"/>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Industry benchmarks indicate that reducing unplanned downtime by as little as ten minutes a day on a high-value line can be worth in excess of two hundred thousand dollars a day; early warning is the mechanism by which those minutes are recovered.</a:t>
            </a:r>
            <a:endParaRPr lang="en-US" sz="1200" dirty="0"/>
          </a:p>
        </p:txBody>
      </p:sp>
      <p:sp>
        <p:nvSpPr>
          <p:cNvPr id="8" name="Shape 5"/>
          <p:cNvSpPr/>
          <p:nvPr/>
        </p:nvSpPr>
        <p:spPr>
          <a:xfrm>
            <a:off x="5623560" y="3172968"/>
            <a:ext cx="137160" cy="137160"/>
          </a:xfrm>
          <a:prstGeom prst="ellipse">
            <a:avLst/>
          </a:prstGeom>
          <a:solidFill>
            <a:srgbClr val="A100FF"/>
          </a:solidFill>
          <a:ln/>
        </p:spPr>
        <p:txBody>
          <a:bodyPr/>
          <a:lstStyle/>
          <a:p>
            <a:endParaRPr lang="en-IN"/>
          </a:p>
        </p:txBody>
      </p:sp>
      <p:sp>
        <p:nvSpPr>
          <p:cNvPr id="9" name="Text 6"/>
          <p:cNvSpPr txBox="1"/>
          <p:nvPr/>
        </p:nvSpPr>
        <p:spPr>
          <a:xfrm>
            <a:off x="5897880" y="3008376"/>
            <a:ext cx="5577840" cy="365760"/>
          </a:xfrm>
          <a:prstGeom prst="rect">
            <a:avLst/>
          </a:prstGeom>
          <a:noFill/>
          <a:ln/>
        </p:spPr>
        <p:txBody>
          <a:bodyPr wrap="square" lIns="0" tIns="0" rIns="0" bIns="0" rtlCol="0" anchor="ctr"/>
          <a:lstStyle/>
          <a:p>
            <a:pPr marL="0" indent="0">
              <a:buNone/>
            </a:pPr>
            <a:r>
              <a:rPr lang="en-US" sz="1350" b="1" dirty="0">
                <a:solidFill>
                  <a:srgbClr val="6E00B3"/>
                </a:solidFill>
                <a:latin typeface="Cambria" pitchFamily="34" charset="0"/>
                <a:ea typeface="Cambria" pitchFamily="34" charset="-122"/>
                <a:cs typeface="Cambria" pitchFamily="34" charset="-120"/>
              </a:rPr>
              <a:t>Reduced downstream scrap and rework</a:t>
            </a:r>
            <a:endParaRPr lang="en-US" sz="1350" dirty="0"/>
          </a:p>
        </p:txBody>
      </p:sp>
      <p:sp>
        <p:nvSpPr>
          <p:cNvPr id="10" name="Text 7"/>
          <p:cNvSpPr txBox="1"/>
          <p:nvPr/>
        </p:nvSpPr>
        <p:spPr>
          <a:xfrm>
            <a:off x="5897880" y="3364992"/>
            <a:ext cx="5760720" cy="868680"/>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Identifying a defect at its originating station, rather than at final inspection, prevents the same condition from repeating across the dozens of units that would otherwise pass through the affected station before detection.</a:t>
            </a:r>
            <a:endParaRPr lang="en-US" sz="1200" dirty="0"/>
          </a:p>
        </p:txBody>
      </p:sp>
      <p:sp>
        <p:nvSpPr>
          <p:cNvPr id="11" name="Shape 8"/>
          <p:cNvSpPr/>
          <p:nvPr/>
        </p:nvSpPr>
        <p:spPr>
          <a:xfrm>
            <a:off x="5623560" y="4517136"/>
            <a:ext cx="137160" cy="137160"/>
          </a:xfrm>
          <a:prstGeom prst="ellipse">
            <a:avLst/>
          </a:prstGeom>
          <a:solidFill>
            <a:srgbClr val="A100FF"/>
          </a:solidFill>
          <a:ln/>
        </p:spPr>
        <p:txBody>
          <a:bodyPr/>
          <a:lstStyle/>
          <a:p>
            <a:endParaRPr lang="en-IN"/>
          </a:p>
        </p:txBody>
      </p:sp>
      <p:sp>
        <p:nvSpPr>
          <p:cNvPr id="12" name="Text 9"/>
          <p:cNvSpPr txBox="1"/>
          <p:nvPr/>
        </p:nvSpPr>
        <p:spPr>
          <a:xfrm>
            <a:off x="5897880" y="4352544"/>
            <a:ext cx="5577840" cy="365760"/>
          </a:xfrm>
          <a:prstGeom prst="rect">
            <a:avLst/>
          </a:prstGeom>
          <a:noFill/>
          <a:ln/>
        </p:spPr>
        <p:txBody>
          <a:bodyPr wrap="square" lIns="0" tIns="0" rIns="0" bIns="0" rtlCol="0" anchor="ctr"/>
          <a:lstStyle/>
          <a:p>
            <a:pPr marL="0" indent="0">
              <a:buNone/>
            </a:pPr>
            <a:r>
              <a:rPr lang="en-US" sz="1350" b="1" dirty="0">
                <a:solidFill>
                  <a:srgbClr val="6E00B3"/>
                </a:solidFill>
                <a:latin typeface="Cambria" pitchFamily="34" charset="0"/>
                <a:ea typeface="Cambria" pitchFamily="34" charset="-122"/>
                <a:cs typeface="Cambria" pitchFamily="34" charset="-120"/>
              </a:rPr>
              <a:t>Higher operator confidence and adoption</a:t>
            </a:r>
            <a:endParaRPr lang="en-US" sz="1350" dirty="0"/>
          </a:p>
        </p:txBody>
      </p:sp>
      <p:sp>
        <p:nvSpPr>
          <p:cNvPr id="13" name="Text 10"/>
          <p:cNvSpPr txBox="1"/>
          <p:nvPr/>
        </p:nvSpPr>
        <p:spPr>
          <a:xfrm>
            <a:off x="5897880" y="4709160"/>
            <a:ext cx="5760720" cy="868680"/>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Each alert is accompanied by a confidence score and a stated reason, allowing floor teams to evaluate why a station was flagged rather than treating the system as an unexplained black box, which supports sustained adoption.</a:t>
            </a:r>
            <a:endParaRPr lang="en-US" sz="1200" dirty="0"/>
          </a:p>
        </p:txBody>
      </p:sp>
      <p:sp>
        <p:nvSpPr>
          <p:cNvPr id="15" name="Text 12"/>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09</a:t>
            </a:r>
            <a:endParaRPr lang="en-US" sz="950" dirty="0"/>
          </a:p>
        </p:txBody>
      </p:sp>
      <p:sp>
        <p:nvSpPr>
          <p:cNvPr id="16" name="Shape 13"/>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6022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D9B8FF"/>
                </a:solidFill>
                <a:latin typeface="Calibri" pitchFamily="34" charset="0"/>
                <a:ea typeface="Calibri" pitchFamily="34" charset="-122"/>
                <a:cs typeface="Calibri" pitchFamily="34" charset="-120"/>
              </a:rPr>
              <a:t>IMPLEMENTATION ROADMAP</a:t>
            </a:r>
            <a:endParaRPr lang="en-US" sz="1150" dirty="0"/>
          </a:p>
        </p:txBody>
      </p:sp>
      <p:sp>
        <p:nvSpPr>
          <p:cNvPr id="3" name="Text 1"/>
          <p:cNvSpPr txBox="1"/>
          <p:nvPr/>
        </p:nvSpPr>
        <p:spPr>
          <a:xfrm>
            <a:off x="548640" y="658368"/>
            <a:ext cx="960120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Phased Path to Enterprise Deployment</a:t>
            </a:r>
            <a:endParaRPr lang="en-US" sz="2800" dirty="0"/>
          </a:p>
        </p:txBody>
      </p:sp>
      <p:sp>
        <p:nvSpPr>
          <p:cNvPr id="4" name="Shape 2"/>
          <p:cNvSpPr/>
          <p:nvPr/>
        </p:nvSpPr>
        <p:spPr>
          <a:xfrm>
            <a:off x="1859661" y="2121408"/>
            <a:ext cx="8469630" cy="0"/>
          </a:xfrm>
          <a:prstGeom prst="line">
            <a:avLst/>
          </a:prstGeom>
          <a:noFill/>
          <a:ln w="25400">
            <a:solidFill>
              <a:srgbClr val="A100FF"/>
            </a:solidFill>
            <a:prstDash val="dash"/>
          </a:ln>
        </p:spPr>
        <p:txBody>
          <a:bodyPr/>
          <a:lstStyle/>
          <a:p>
            <a:endParaRPr lang="en-IN"/>
          </a:p>
        </p:txBody>
      </p:sp>
      <p:sp>
        <p:nvSpPr>
          <p:cNvPr id="5" name="Shape 3"/>
          <p:cNvSpPr/>
          <p:nvPr/>
        </p:nvSpPr>
        <p:spPr>
          <a:xfrm>
            <a:off x="1567053" y="1828800"/>
            <a:ext cx="585216" cy="585216"/>
          </a:xfrm>
          <a:prstGeom prst="ellipse">
            <a:avLst/>
          </a:prstGeom>
          <a:solidFill>
            <a:srgbClr val="A100FF"/>
          </a:solidFill>
          <a:ln/>
        </p:spPr>
        <p:txBody>
          <a:bodyPr/>
          <a:lstStyle/>
          <a:p>
            <a:endParaRPr lang="en-IN"/>
          </a:p>
        </p:txBody>
      </p:sp>
      <p:sp>
        <p:nvSpPr>
          <p:cNvPr id="6" name="Text 4"/>
          <p:cNvSpPr txBox="1"/>
          <p:nvPr/>
        </p:nvSpPr>
        <p:spPr>
          <a:xfrm>
            <a:off x="1567053" y="1828800"/>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a:t>
            </a:r>
            <a:endParaRPr lang="en-US" sz="1800" dirty="0"/>
          </a:p>
        </p:txBody>
      </p:sp>
      <p:sp>
        <p:nvSpPr>
          <p:cNvPr id="7" name="Shape 5"/>
          <p:cNvSpPr/>
          <p:nvPr/>
        </p:nvSpPr>
        <p:spPr>
          <a:xfrm>
            <a:off x="548640" y="2670048"/>
            <a:ext cx="2622042" cy="3273552"/>
          </a:xfrm>
          <a:prstGeom prst="roundRect">
            <a:avLst>
              <a:gd name="adj" fmla="val 3487"/>
            </a:avLst>
          </a:prstGeom>
          <a:solidFill>
            <a:srgbClr val="260A3D"/>
          </a:solidFill>
          <a:ln/>
        </p:spPr>
        <p:txBody>
          <a:bodyPr/>
          <a:lstStyle/>
          <a:p>
            <a:endParaRPr lang="en-IN"/>
          </a:p>
        </p:txBody>
      </p:sp>
      <p:sp>
        <p:nvSpPr>
          <p:cNvPr id="8" name="Text 6"/>
          <p:cNvSpPr txBox="1"/>
          <p:nvPr/>
        </p:nvSpPr>
        <p:spPr>
          <a:xfrm>
            <a:off x="658368" y="2798064"/>
            <a:ext cx="2402586" cy="274320"/>
          </a:xfrm>
          <a:prstGeom prst="rect">
            <a:avLst/>
          </a:prstGeom>
          <a:noFill/>
          <a:ln/>
        </p:spPr>
        <p:txBody>
          <a:bodyPr wrap="square" lIns="0" tIns="0" rIns="0" bIns="0" rtlCol="0" anchor="ctr"/>
          <a:lstStyle/>
          <a:p>
            <a:pPr marL="0" indent="0" algn="ctr">
              <a:buNone/>
            </a:pPr>
            <a:r>
              <a:rPr lang="en-US" sz="950" b="1" kern="0" spc="50" dirty="0">
                <a:solidFill>
                  <a:srgbClr val="D9B8FF"/>
                </a:solidFill>
                <a:latin typeface="Calibri" pitchFamily="34" charset="0"/>
                <a:ea typeface="Calibri" pitchFamily="34" charset="-122"/>
                <a:cs typeface="Calibri" pitchFamily="34" charset="-120"/>
              </a:rPr>
              <a:t>CURRENT STATE</a:t>
            </a:r>
            <a:endParaRPr lang="en-US" sz="950" dirty="0"/>
          </a:p>
        </p:txBody>
      </p:sp>
      <p:sp>
        <p:nvSpPr>
          <p:cNvPr id="9" name="Text 7"/>
          <p:cNvSpPr txBox="1"/>
          <p:nvPr/>
        </p:nvSpPr>
        <p:spPr>
          <a:xfrm>
            <a:off x="621792" y="3090672"/>
            <a:ext cx="2475738"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Prototype</a:t>
            </a:r>
            <a:endParaRPr lang="en-US" sz="1600" dirty="0"/>
          </a:p>
        </p:txBody>
      </p:sp>
      <p:sp>
        <p:nvSpPr>
          <p:cNvPr id="10" name="Text 8"/>
          <p:cNvSpPr txBox="1"/>
          <p:nvPr/>
        </p:nvSpPr>
        <p:spPr>
          <a:xfrm>
            <a:off x="731520" y="3566160"/>
            <a:ext cx="2256282" cy="2240280"/>
          </a:xfrm>
          <a:prstGeom prst="rect">
            <a:avLst/>
          </a:prstGeom>
          <a:noFill/>
          <a:ln/>
        </p:spPr>
        <p:txBody>
          <a:bodyPr wrap="square" lIns="0" tIns="0" rIns="0" bIns="0" rtlCol="0" anchor="t"/>
          <a:lstStyle/>
          <a:p>
            <a:pPr marL="0" indent="0" algn="ctr">
              <a:buNone/>
            </a:pPr>
            <a:r>
              <a:rPr lang="en-US" sz="1050" dirty="0">
                <a:solidFill>
                  <a:srgbClr val="E9DBFF"/>
                </a:solidFill>
                <a:latin typeface="Calibri" pitchFamily="34" charset="0"/>
                <a:ea typeface="Calibri" pitchFamily="34" charset="-122"/>
                <a:cs typeface="Calibri" pitchFamily="34" charset="-120"/>
              </a:rPr>
              <a:t>A simulator, forecasting model, and three-tier dashboard have been built and validated end to end on realistic simulated production data.</a:t>
            </a:r>
            <a:endParaRPr lang="en-US" sz="1050" dirty="0"/>
          </a:p>
        </p:txBody>
      </p:sp>
      <p:sp>
        <p:nvSpPr>
          <p:cNvPr id="11" name="Shape 9"/>
          <p:cNvSpPr/>
          <p:nvPr/>
        </p:nvSpPr>
        <p:spPr>
          <a:xfrm>
            <a:off x="4390263" y="1828800"/>
            <a:ext cx="585216" cy="585216"/>
          </a:xfrm>
          <a:prstGeom prst="ellipse">
            <a:avLst/>
          </a:prstGeom>
          <a:solidFill>
            <a:srgbClr val="A100FF"/>
          </a:solidFill>
          <a:ln/>
        </p:spPr>
        <p:txBody>
          <a:bodyPr/>
          <a:lstStyle/>
          <a:p>
            <a:endParaRPr lang="en-IN"/>
          </a:p>
        </p:txBody>
      </p:sp>
      <p:sp>
        <p:nvSpPr>
          <p:cNvPr id="12" name="Text 10"/>
          <p:cNvSpPr txBox="1"/>
          <p:nvPr/>
        </p:nvSpPr>
        <p:spPr>
          <a:xfrm>
            <a:off x="4390263" y="1828800"/>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3" name="Shape 11"/>
          <p:cNvSpPr/>
          <p:nvPr/>
        </p:nvSpPr>
        <p:spPr>
          <a:xfrm>
            <a:off x="3371850" y="2670048"/>
            <a:ext cx="2622042" cy="3273552"/>
          </a:xfrm>
          <a:prstGeom prst="roundRect">
            <a:avLst>
              <a:gd name="adj" fmla="val 3487"/>
            </a:avLst>
          </a:prstGeom>
          <a:solidFill>
            <a:srgbClr val="260A3D"/>
          </a:solidFill>
          <a:ln/>
        </p:spPr>
        <p:txBody>
          <a:bodyPr/>
          <a:lstStyle/>
          <a:p>
            <a:endParaRPr lang="en-IN"/>
          </a:p>
        </p:txBody>
      </p:sp>
      <p:sp>
        <p:nvSpPr>
          <p:cNvPr id="14" name="Text 12"/>
          <p:cNvSpPr txBox="1"/>
          <p:nvPr/>
        </p:nvSpPr>
        <p:spPr>
          <a:xfrm>
            <a:off x="3481578" y="2798064"/>
            <a:ext cx="2402586" cy="274320"/>
          </a:xfrm>
          <a:prstGeom prst="rect">
            <a:avLst/>
          </a:prstGeom>
          <a:noFill/>
          <a:ln/>
        </p:spPr>
        <p:txBody>
          <a:bodyPr wrap="square" lIns="0" tIns="0" rIns="0" bIns="0" rtlCol="0" anchor="ctr"/>
          <a:lstStyle/>
          <a:p>
            <a:pPr marL="0" indent="0" algn="ctr">
              <a:buNone/>
            </a:pPr>
            <a:r>
              <a:rPr lang="en-US" sz="950" b="1" kern="0" spc="50" dirty="0">
                <a:solidFill>
                  <a:srgbClr val="D9B8FF"/>
                </a:solidFill>
                <a:latin typeface="Calibri" pitchFamily="34" charset="0"/>
                <a:ea typeface="Calibri" pitchFamily="34" charset="-122"/>
                <a:cs typeface="Calibri" pitchFamily="34" charset="-120"/>
              </a:rPr>
              <a:t>MONTHS 0–3</a:t>
            </a:r>
            <a:endParaRPr lang="en-US" sz="950" dirty="0"/>
          </a:p>
        </p:txBody>
      </p:sp>
      <p:sp>
        <p:nvSpPr>
          <p:cNvPr id="15" name="Text 13"/>
          <p:cNvSpPr txBox="1"/>
          <p:nvPr/>
        </p:nvSpPr>
        <p:spPr>
          <a:xfrm>
            <a:off x="3445002" y="3090672"/>
            <a:ext cx="2475738"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Initial Deployment</a:t>
            </a:r>
            <a:endParaRPr lang="en-US" sz="1600" dirty="0"/>
          </a:p>
        </p:txBody>
      </p:sp>
      <p:sp>
        <p:nvSpPr>
          <p:cNvPr id="16" name="Text 14"/>
          <p:cNvSpPr txBox="1"/>
          <p:nvPr/>
        </p:nvSpPr>
        <p:spPr>
          <a:xfrm>
            <a:off x="3554730" y="3566160"/>
            <a:ext cx="2256282" cy="2240280"/>
          </a:xfrm>
          <a:prstGeom prst="rect">
            <a:avLst/>
          </a:prstGeom>
          <a:noFill/>
          <a:ln/>
        </p:spPr>
        <p:txBody>
          <a:bodyPr wrap="square" lIns="0" tIns="0" rIns="0" bIns="0" rtlCol="0" anchor="t"/>
          <a:lstStyle/>
          <a:p>
            <a:pPr marL="0" indent="0" algn="ctr">
              <a:buNone/>
            </a:pPr>
            <a:r>
              <a:rPr lang="en-US" sz="1050" dirty="0">
                <a:solidFill>
                  <a:srgbClr val="E9DBFF"/>
                </a:solidFill>
                <a:latin typeface="Calibri" pitchFamily="34" charset="0"/>
                <a:ea typeface="Calibri" pitchFamily="34" charset="-122"/>
                <a:cs typeface="Calibri" pitchFamily="34" charset="-120"/>
              </a:rPr>
              <a:t>Connect the platform to one production line's live sensor feeds. Validate forecasts against real outcomes and calibrate alert thresholds jointly with floor staff.</a:t>
            </a:r>
            <a:endParaRPr lang="en-US" sz="1050" dirty="0"/>
          </a:p>
        </p:txBody>
      </p:sp>
      <p:sp>
        <p:nvSpPr>
          <p:cNvPr id="17" name="Shape 15"/>
          <p:cNvSpPr/>
          <p:nvPr/>
        </p:nvSpPr>
        <p:spPr>
          <a:xfrm>
            <a:off x="7213473" y="1828800"/>
            <a:ext cx="585216" cy="585216"/>
          </a:xfrm>
          <a:prstGeom prst="ellipse">
            <a:avLst/>
          </a:prstGeom>
          <a:solidFill>
            <a:srgbClr val="A100FF"/>
          </a:solidFill>
          <a:ln/>
        </p:spPr>
        <p:txBody>
          <a:bodyPr/>
          <a:lstStyle/>
          <a:p>
            <a:endParaRPr lang="en-IN"/>
          </a:p>
        </p:txBody>
      </p:sp>
      <p:sp>
        <p:nvSpPr>
          <p:cNvPr id="18" name="Text 16"/>
          <p:cNvSpPr txBox="1"/>
          <p:nvPr/>
        </p:nvSpPr>
        <p:spPr>
          <a:xfrm>
            <a:off x="7213473" y="1828800"/>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Shape 17"/>
          <p:cNvSpPr/>
          <p:nvPr/>
        </p:nvSpPr>
        <p:spPr>
          <a:xfrm>
            <a:off x="6195060" y="2670048"/>
            <a:ext cx="2622042" cy="3273552"/>
          </a:xfrm>
          <a:prstGeom prst="roundRect">
            <a:avLst>
              <a:gd name="adj" fmla="val 3487"/>
            </a:avLst>
          </a:prstGeom>
          <a:solidFill>
            <a:srgbClr val="260A3D"/>
          </a:solidFill>
          <a:ln/>
        </p:spPr>
        <p:txBody>
          <a:bodyPr/>
          <a:lstStyle/>
          <a:p>
            <a:endParaRPr lang="en-IN"/>
          </a:p>
        </p:txBody>
      </p:sp>
      <p:sp>
        <p:nvSpPr>
          <p:cNvPr id="20" name="Text 18"/>
          <p:cNvSpPr txBox="1"/>
          <p:nvPr/>
        </p:nvSpPr>
        <p:spPr>
          <a:xfrm>
            <a:off x="6304788" y="2798064"/>
            <a:ext cx="2402586" cy="274320"/>
          </a:xfrm>
          <a:prstGeom prst="rect">
            <a:avLst/>
          </a:prstGeom>
          <a:noFill/>
          <a:ln/>
        </p:spPr>
        <p:txBody>
          <a:bodyPr wrap="square" lIns="0" tIns="0" rIns="0" bIns="0" rtlCol="0" anchor="ctr"/>
          <a:lstStyle/>
          <a:p>
            <a:pPr marL="0" indent="0" algn="ctr">
              <a:buNone/>
            </a:pPr>
            <a:r>
              <a:rPr lang="en-US" sz="950" b="1" kern="0" spc="50" dirty="0">
                <a:solidFill>
                  <a:srgbClr val="D9B8FF"/>
                </a:solidFill>
                <a:latin typeface="Calibri" pitchFamily="34" charset="0"/>
                <a:ea typeface="Calibri" pitchFamily="34" charset="-122"/>
                <a:cs typeface="Calibri" pitchFamily="34" charset="-120"/>
              </a:rPr>
              <a:t>MONTHS 3–6</a:t>
            </a:r>
            <a:endParaRPr lang="en-US" sz="950" dirty="0"/>
          </a:p>
        </p:txBody>
      </p:sp>
      <p:sp>
        <p:nvSpPr>
          <p:cNvPr id="21" name="Text 19"/>
          <p:cNvSpPr txBox="1"/>
          <p:nvPr/>
        </p:nvSpPr>
        <p:spPr>
          <a:xfrm>
            <a:off x="6268212" y="3090672"/>
            <a:ext cx="2475738"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Plant-Wide Scale-Up</a:t>
            </a:r>
            <a:endParaRPr lang="en-US" sz="1600" dirty="0"/>
          </a:p>
        </p:txBody>
      </p:sp>
      <p:sp>
        <p:nvSpPr>
          <p:cNvPr id="22" name="Text 20"/>
          <p:cNvSpPr txBox="1"/>
          <p:nvPr/>
        </p:nvSpPr>
        <p:spPr>
          <a:xfrm>
            <a:off x="6377940" y="3566160"/>
            <a:ext cx="2256282" cy="2240280"/>
          </a:xfrm>
          <a:prstGeom prst="rect">
            <a:avLst/>
          </a:prstGeom>
          <a:noFill/>
          <a:ln/>
        </p:spPr>
        <p:txBody>
          <a:bodyPr wrap="square" lIns="0" tIns="0" rIns="0" bIns="0" rtlCol="0" anchor="t"/>
          <a:lstStyle/>
          <a:p>
            <a:pPr marL="0" indent="0" algn="ctr">
              <a:buNone/>
            </a:pPr>
            <a:r>
              <a:rPr lang="en-US" sz="1050" dirty="0">
                <a:solidFill>
                  <a:srgbClr val="E9DBFF"/>
                </a:solidFill>
                <a:latin typeface="Calibri" pitchFamily="34" charset="0"/>
                <a:ea typeface="Calibri" pitchFamily="34" charset="-122"/>
                <a:cs typeface="Calibri" pitchFamily="34" charset="-120"/>
              </a:rPr>
              <a:t>Extend coverage to every station and line within the plant, and incorporate floor-team overrides as a structured feedback loop for ongoing refinement.</a:t>
            </a:r>
            <a:endParaRPr lang="en-US" sz="1050" dirty="0"/>
          </a:p>
        </p:txBody>
      </p:sp>
      <p:sp>
        <p:nvSpPr>
          <p:cNvPr id="23" name="Shape 21"/>
          <p:cNvSpPr/>
          <p:nvPr/>
        </p:nvSpPr>
        <p:spPr>
          <a:xfrm>
            <a:off x="10036683" y="1828800"/>
            <a:ext cx="585216" cy="585216"/>
          </a:xfrm>
          <a:prstGeom prst="ellipse">
            <a:avLst/>
          </a:prstGeom>
          <a:solidFill>
            <a:srgbClr val="A100FF"/>
          </a:solidFill>
          <a:ln/>
        </p:spPr>
        <p:txBody>
          <a:bodyPr/>
          <a:lstStyle/>
          <a:p>
            <a:endParaRPr lang="en-IN"/>
          </a:p>
        </p:txBody>
      </p:sp>
      <p:sp>
        <p:nvSpPr>
          <p:cNvPr id="24" name="Text 22"/>
          <p:cNvSpPr txBox="1"/>
          <p:nvPr/>
        </p:nvSpPr>
        <p:spPr>
          <a:xfrm>
            <a:off x="10036683" y="1828800"/>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5" name="Shape 23"/>
          <p:cNvSpPr/>
          <p:nvPr/>
        </p:nvSpPr>
        <p:spPr>
          <a:xfrm>
            <a:off x="9018270" y="2670048"/>
            <a:ext cx="2622042" cy="3273552"/>
          </a:xfrm>
          <a:prstGeom prst="roundRect">
            <a:avLst>
              <a:gd name="adj" fmla="val 3487"/>
            </a:avLst>
          </a:prstGeom>
          <a:solidFill>
            <a:srgbClr val="260A3D"/>
          </a:solidFill>
          <a:ln/>
        </p:spPr>
        <p:txBody>
          <a:bodyPr/>
          <a:lstStyle/>
          <a:p>
            <a:endParaRPr lang="en-IN"/>
          </a:p>
        </p:txBody>
      </p:sp>
      <p:sp>
        <p:nvSpPr>
          <p:cNvPr id="26" name="Text 24"/>
          <p:cNvSpPr txBox="1"/>
          <p:nvPr/>
        </p:nvSpPr>
        <p:spPr>
          <a:xfrm>
            <a:off x="9127998" y="2798064"/>
            <a:ext cx="2402586" cy="274320"/>
          </a:xfrm>
          <a:prstGeom prst="rect">
            <a:avLst/>
          </a:prstGeom>
          <a:noFill/>
          <a:ln/>
        </p:spPr>
        <p:txBody>
          <a:bodyPr wrap="square" lIns="0" tIns="0" rIns="0" bIns="0" rtlCol="0" anchor="ctr"/>
          <a:lstStyle/>
          <a:p>
            <a:pPr marL="0" indent="0" algn="ctr">
              <a:buNone/>
            </a:pPr>
            <a:r>
              <a:rPr lang="en-US" sz="950" b="1" kern="0" spc="50" dirty="0">
                <a:solidFill>
                  <a:srgbClr val="D9B8FF"/>
                </a:solidFill>
                <a:latin typeface="Calibri" pitchFamily="34" charset="0"/>
                <a:ea typeface="Calibri" pitchFamily="34" charset="-122"/>
                <a:cs typeface="Calibri" pitchFamily="34" charset="-120"/>
              </a:rPr>
              <a:t>MONTHS 6–12</a:t>
            </a:r>
            <a:endParaRPr lang="en-US" sz="950" dirty="0"/>
          </a:p>
        </p:txBody>
      </p:sp>
      <p:sp>
        <p:nvSpPr>
          <p:cNvPr id="27" name="Text 25"/>
          <p:cNvSpPr txBox="1"/>
          <p:nvPr/>
        </p:nvSpPr>
        <p:spPr>
          <a:xfrm>
            <a:off x="9091422" y="3090672"/>
            <a:ext cx="2475738"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Multi-Site Expansion</a:t>
            </a:r>
            <a:endParaRPr lang="en-US" sz="1600" dirty="0"/>
          </a:p>
        </p:txBody>
      </p:sp>
      <p:sp>
        <p:nvSpPr>
          <p:cNvPr id="28" name="Text 26"/>
          <p:cNvSpPr txBox="1"/>
          <p:nvPr/>
        </p:nvSpPr>
        <p:spPr>
          <a:xfrm>
            <a:off x="9201150" y="3566160"/>
            <a:ext cx="2256282" cy="2240280"/>
          </a:xfrm>
          <a:prstGeom prst="rect">
            <a:avLst/>
          </a:prstGeom>
          <a:noFill/>
          <a:ln/>
        </p:spPr>
        <p:txBody>
          <a:bodyPr wrap="square" lIns="0" tIns="0" rIns="0" bIns="0" rtlCol="0" anchor="t"/>
          <a:lstStyle/>
          <a:p>
            <a:pPr marL="0" indent="0" algn="ctr">
              <a:buNone/>
            </a:pPr>
            <a:r>
              <a:rPr lang="en-US" sz="1050" dirty="0">
                <a:solidFill>
                  <a:srgbClr val="E9DBFF"/>
                </a:solidFill>
                <a:latin typeface="Calibri" pitchFamily="34" charset="0"/>
                <a:ea typeface="Calibri" pitchFamily="34" charset="-122"/>
                <a:cs typeface="Calibri" pitchFamily="34" charset="-120"/>
              </a:rPr>
              <a:t>Extend deployment to additional plants with differing layouts, and evolve the fixed rule-based action engine toward a learning-based recommendation system.</a:t>
            </a:r>
            <a:endParaRPr lang="en-US" sz="1050" dirty="0"/>
          </a:p>
        </p:txBody>
      </p:sp>
      <p:sp>
        <p:nvSpPr>
          <p:cNvPr id="29" name="Text 27"/>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C9AEE8"/>
                </a:solidFill>
                <a:latin typeface="Calibri" pitchFamily="34" charset="0"/>
                <a:ea typeface="Calibri" pitchFamily="34" charset="-122"/>
                <a:cs typeface="Calibri" pitchFamily="34" charset="-120"/>
              </a:rPr>
              <a:t>10</a:t>
            </a:r>
            <a:endParaRPr lang="en-US" sz="950" dirty="0"/>
          </a:p>
        </p:txBody>
      </p:sp>
      <p:sp>
        <p:nvSpPr>
          <p:cNvPr id="30" name="Shape 28"/>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6E00B3"/>
                </a:solidFill>
                <a:latin typeface="Calibri" pitchFamily="34" charset="0"/>
                <a:ea typeface="Calibri" pitchFamily="34" charset="-122"/>
                <a:cs typeface="Calibri" pitchFamily="34" charset="-120"/>
              </a:rPr>
              <a:t>RISK ASSESSMENT</a:t>
            </a:r>
            <a:endParaRPr lang="en-US" sz="1150" dirty="0"/>
          </a:p>
        </p:txBody>
      </p:sp>
      <p:sp>
        <p:nvSpPr>
          <p:cNvPr id="3" name="Text 1"/>
          <p:cNvSpPr txBox="1"/>
          <p:nvPr/>
        </p:nvSpPr>
        <p:spPr>
          <a:xfrm>
            <a:off x="548640" y="658368"/>
            <a:ext cx="10058400" cy="777240"/>
          </a:xfrm>
          <a:prstGeom prst="rect">
            <a:avLst/>
          </a:prstGeom>
          <a:noFill/>
          <a:ln/>
        </p:spPr>
        <p:txBody>
          <a:bodyPr wrap="square" lIns="0" tIns="0" rIns="0" bIns="0" rtlCol="0" anchor="ctr"/>
          <a:lstStyle/>
          <a:p>
            <a:pPr marL="0" indent="0">
              <a:buNone/>
            </a:pPr>
            <a:r>
              <a:rPr lang="en-US" sz="2700" b="1" dirty="0">
                <a:solidFill>
                  <a:srgbClr val="231A2E"/>
                </a:solidFill>
                <a:latin typeface="Cambria" pitchFamily="34" charset="0"/>
                <a:ea typeface="Cambria" pitchFamily="34" charset="-122"/>
                <a:cs typeface="Cambria" pitchFamily="34" charset="-120"/>
              </a:rPr>
              <a:t>Principal Risks and Corresponding Mitigations</a:t>
            </a:r>
            <a:endParaRPr lang="en-US" sz="2700" dirty="0"/>
          </a:p>
        </p:txBody>
      </p:sp>
      <p:sp>
        <p:nvSpPr>
          <p:cNvPr id="4" name="Shape 2"/>
          <p:cNvSpPr/>
          <p:nvPr/>
        </p:nvSpPr>
        <p:spPr>
          <a:xfrm>
            <a:off x="548640" y="1600200"/>
            <a:ext cx="11064240" cy="1133856"/>
          </a:xfrm>
          <a:prstGeom prst="roundRect">
            <a:avLst>
              <a:gd name="adj" fmla="val 7258"/>
            </a:avLst>
          </a:prstGeom>
          <a:solidFill>
            <a:srgbClr val="F4EBFF"/>
          </a:solidFill>
          <a:ln w="12700">
            <a:solidFill>
              <a:srgbClr val="E3CFFF"/>
            </a:solidFill>
            <a:prstDash val="solid"/>
          </a:ln>
        </p:spPr>
        <p:txBody>
          <a:bodyPr/>
          <a:lstStyle/>
          <a:p>
            <a:endParaRPr lang="en-IN"/>
          </a:p>
        </p:txBody>
      </p:sp>
      <p:sp>
        <p:nvSpPr>
          <p:cNvPr id="5" name="Shape 3"/>
          <p:cNvSpPr/>
          <p:nvPr/>
        </p:nvSpPr>
        <p:spPr>
          <a:xfrm>
            <a:off x="548640" y="1600200"/>
            <a:ext cx="3566160" cy="1133856"/>
          </a:xfrm>
          <a:prstGeom prst="roundRect">
            <a:avLst>
              <a:gd name="adj" fmla="val 7258"/>
            </a:avLst>
          </a:prstGeom>
          <a:solidFill>
            <a:srgbClr val="F0DFFF"/>
          </a:solidFill>
          <a:ln/>
        </p:spPr>
        <p:txBody>
          <a:bodyPr/>
          <a:lstStyle/>
          <a:p>
            <a:endParaRPr lang="en-IN"/>
          </a:p>
        </p:txBody>
      </p:sp>
      <p:sp>
        <p:nvSpPr>
          <p:cNvPr id="6" name="Text 4"/>
          <p:cNvSpPr txBox="1"/>
          <p:nvPr/>
        </p:nvSpPr>
        <p:spPr>
          <a:xfrm>
            <a:off x="777240" y="1691640"/>
            <a:ext cx="310896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RISK</a:t>
            </a:r>
            <a:endParaRPr lang="en-US" sz="850" dirty="0"/>
          </a:p>
        </p:txBody>
      </p:sp>
      <p:sp>
        <p:nvSpPr>
          <p:cNvPr id="7" name="Text 5"/>
          <p:cNvSpPr txBox="1"/>
          <p:nvPr/>
        </p:nvSpPr>
        <p:spPr>
          <a:xfrm>
            <a:off x="777240" y="1892808"/>
            <a:ext cx="3108960" cy="749808"/>
          </a:xfrm>
          <a:prstGeom prst="rect">
            <a:avLst/>
          </a:prstGeom>
          <a:noFill/>
          <a:ln/>
        </p:spPr>
        <p:txBody>
          <a:bodyPr wrap="square" lIns="0" tIns="0" rIns="0" bIns="0" rtlCol="0" anchor="t"/>
          <a:lstStyle/>
          <a:p>
            <a:pPr marL="0" indent="0">
              <a:buNone/>
            </a:pPr>
            <a:r>
              <a:rPr lang="en-US" sz="1400" b="1" dirty="0">
                <a:solidFill>
                  <a:srgbClr val="231A2E"/>
                </a:solidFill>
                <a:latin typeface="Cambria" pitchFamily="34" charset="0"/>
                <a:ea typeface="Cambria" pitchFamily="34" charset="-122"/>
                <a:cs typeface="Cambria" pitchFamily="34" charset="-120"/>
              </a:rPr>
              <a:t>False positives undermine operator trust</a:t>
            </a:r>
            <a:endParaRPr lang="en-US" sz="1400" dirty="0"/>
          </a:p>
        </p:txBody>
      </p:sp>
      <p:sp>
        <p:nvSpPr>
          <p:cNvPr id="8" name="Text 6"/>
          <p:cNvSpPr txBox="1"/>
          <p:nvPr/>
        </p:nvSpPr>
        <p:spPr>
          <a:xfrm>
            <a:off x="4343400" y="1691640"/>
            <a:ext cx="708660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MITIGATION</a:t>
            </a:r>
            <a:endParaRPr lang="en-US" sz="850" dirty="0"/>
          </a:p>
        </p:txBody>
      </p:sp>
      <p:sp>
        <p:nvSpPr>
          <p:cNvPr id="9" name="Text 7"/>
          <p:cNvSpPr txBox="1"/>
          <p:nvPr/>
        </p:nvSpPr>
        <p:spPr>
          <a:xfrm>
            <a:off x="4343400" y="1892808"/>
            <a:ext cx="7086600" cy="749808"/>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Every alert carries an explicit confidence score, thresholds remain tunable by plant staff, and no automated action is taken without human review; the system is deliberately biased toward escalation rather than silent downgrade under uncertainty.</a:t>
            </a:r>
            <a:endParaRPr lang="en-US" sz="1200" dirty="0"/>
          </a:p>
        </p:txBody>
      </p:sp>
      <p:sp>
        <p:nvSpPr>
          <p:cNvPr id="10" name="Shape 8"/>
          <p:cNvSpPr/>
          <p:nvPr/>
        </p:nvSpPr>
        <p:spPr>
          <a:xfrm>
            <a:off x="548640" y="2880360"/>
            <a:ext cx="11064240" cy="1133856"/>
          </a:xfrm>
          <a:prstGeom prst="roundRect">
            <a:avLst>
              <a:gd name="adj" fmla="val 7258"/>
            </a:avLst>
          </a:prstGeom>
          <a:solidFill>
            <a:srgbClr val="FFFFFF"/>
          </a:solidFill>
          <a:ln w="12700">
            <a:solidFill>
              <a:srgbClr val="E3CFFF"/>
            </a:solidFill>
            <a:prstDash val="solid"/>
          </a:ln>
        </p:spPr>
        <p:txBody>
          <a:bodyPr/>
          <a:lstStyle/>
          <a:p>
            <a:endParaRPr lang="en-IN"/>
          </a:p>
        </p:txBody>
      </p:sp>
      <p:sp>
        <p:nvSpPr>
          <p:cNvPr id="11" name="Shape 9"/>
          <p:cNvSpPr/>
          <p:nvPr/>
        </p:nvSpPr>
        <p:spPr>
          <a:xfrm>
            <a:off x="548640" y="2880360"/>
            <a:ext cx="3566160" cy="1133856"/>
          </a:xfrm>
          <a:prstGeom prst="roundRect">
            <a:avLst>
              <a:gd name="adj" fmla="val 7258"/>
            </a:avLst>
          </a:prstGeom>
          <a:solidFill>
            <a:srgbClr val="F0DFFF"/>
          </a:solidFill>
          <a:ln/>
        </p:spPr>
        <p:txBody>
          <a:bodyPr/>
          <a:lstStyle/>
          <a:p>
            <a:endParaRPr lang="en-IN"/>
          </a:p>
        </p:txBody>
      </p:sp>
      <p:sp>
        <p:nvSpPr>
          <p:cNvPr id="12" name="Text 10"/>
          <p:cNvSpPr txBox="1"/>
          <p:nvPr/>
        </p:nvSpPr>
        <p:spPr>
          <a:xfrm>
            <a:off x="777240" y="2971800"/>
            <a:ext cx="310896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RISK</a:t>
            </a:r>
            <a:endParaRPr lang="en-US" sz="850" dirty="0"/>
          </a:p>
        </p:txBody>
      </p:sp>
      <p:sp>
        <p:nvSpPr>
          <p:cNvPr id="13" name="Text 11"/>
          <p:cNvSpPr txBox="1"/>
          <p:nvPr/>
        </p:nvSpPr>
        <p:spPr>
          <a:xfrm>
            <a:off x="777240" y="3172968"/>
            <a:ext cx="3108960" cy="749808"/>
          </a:xfrm>
          <a:prstGeom prst="rect">
            <a:avLst/>
          </a:prstGeom>
          <a:noFill/>
          <a:ln/>
        </p:spPr>
        <p:txBody>
          <a:bodyPr wrap="square" lIns="0" tIns="0" rIns="0" bIns="0" rtlCol="0" anchor="t"/>
          <a:lstStyle/>
          <a:p>
            <a:pPr marL="0" indent="0">
              <a:buNone/>
            </a:pPr>
            <a:r>
              <a:rPr lang="en-US" sz="1400" b="1" dirty="0">
                <a:solidFill>
                  <a:srgbClr val="231A2E"/>
                </a:solidFill>
                <a:latin typeface="Cambria" pitchFamily="34" charset="0"/>
                <a:ea typeface="Cambria" pitchFamily="34" charset="-122"/>
                <a:cs typeface="Cambria" pitchFamily="34" charset="-120"/>
              </a:rPr>
              <a:t>Integration risk with live production systems</a:t>
            </a:r>
            <a:endParaRPr lang="en-US" sz="1400" dirty="0"/>
          </a:p>
        </p:txBody>
      </p:sp>
      <p:sp>
        <p:nvSpPr>
          <p:cNvPr id="14" name="Text 12"/>
          <p:cNvSpPr txBox="1"/>
          <p:nvPr/>
        </p:nvSpPr>
        <p:spPr>
          <a:xfrm>
            <a:off x="4343400" y="2971800"/>
            <a:ext cx="708660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MITIGATION</a:t>
            </a:r>
            <a:endParaRPr lang="en-US" sz="850" dirty="0"/>
          </a:p>
        </p:txBody>
      </p:sp>
      <p:sp>
        <p:nvSpPr>
          <p:cNvPr id="15" name="Text 13"/>
          <p:cNvSpPr txBox="1"/>
          <p:nvPr/>
        </p:nvSpPr>
        <p:spPr>
          <a:xfrm>
            <a:off x="4343400" y="3172968"/>
            <a:ext cx="7086600" cy="749808"/>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The platform integrates on a read-only basis through OT gateways, without modification to programmable logic controllers or existing control logic; any physical instrumentation change is scheduled within existing maintenance windows only.</a:t>
            </a:r>
            <a:endParaRPr lang="en-US" sz="1200" dirty="0"/>
          </a:p>
        </p:txBody>
      </p:sp>
      <p:sp>
        <p:nvSpPr>
          <p:cNvPr id="16" name="Shape 14"/>
          <p:cNvSpPr/>
          <p:nvPr/>
        </p:nvSpPr>
        <p:spPr>
          <a:xfrm>
            <a:off x="548640" y="4160520"/>
            <a:ext cx="11064240" cy="1133856"/>
          </a:xfrm>
          <a:prstGeom prst="roundRect">
            <a:avLst>
              <a:gd name="adj" fmla="val 7258"/>
            </a:avLst>
          </a:prstGeom>
          <a:solidFill>
            <a:srgbClr val="F4EBFF"/>
          </a:solidFill>
          <a:ln w="12700">
            <a:solidFill>
              <a:srgbClr val="E3CFFF"/>
            </a:solidFill>
            <a:prstDash val="solid"/>
          </a:ln>
        </p:spPr>
        <p:txBody>
          <a:bodyPr/>
          <a:lstStyle/>
          <a:p>
            <a:endParaRPr lang="en-IN"/>
          </a:p>
        </p:txBody>
      </p:sp>
      <p:sp>
        <p:nvSpPr>
          <p:cNvPr id="17" name="Shape 15"/>
          <p:cNvSpPr/>
          <p:nvPr/>
        </p:nvSpPr>
        <p:spPr>
          <a:xfrm>
            <a:off x="548640" y="4160520"/>
            <a:ext cx="3566160" cy="1133856"/>
          </a:xfrm>
          <a:prstGeom prst="roundRect">
            <a:avLst>
              <a:gd name="adj" fmla="val 7258"/>
            </a:avLst>
          </a:prstGeom>
          <a:solidFill>
            <a:srgbClr val="F0DFFF"/>
          </a:solidFill>
          <a:ln/>
        </p:spPr>
        <p:txBody>
          <a:bodyPr/>
          <a:lstStyle/>
          <a:p>
            <a:endParaRPr lang="en-IN"/>
          </a:p>
        </p:txBody>
      </p:sp>
      <p:sp>
        <p:nvSpPr>
          <p:cNvPr id="18" name="Text 16"/>
          <p:cNvSpPr txBox="1"/>
          <p:nvPr/>
        </p:nvSpPr>
        <p:spPr>
          <a:xfrm>
            <a:off x="777240" y="4251960"/>
            <a:ext cx="310896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RISK</a:t>
            </a:r>
            <a:endParaRPr lang="en-US" sz="850" dirty="0"/>
          </a:p>
        </p:txBody>
      </p:sp>
      <p:sp>
        <p:nvSpPr>
          <p:cNvPr id="19" name="Text 17"/>
          <p:cNvSpPr txBox="1"/>
          <p:nvPr/>
        </p:nvSpPr>
        <p:spPr>
          <a:xfrm>
            <a:off x="777240" y="4453128"/>
            <a:ext cx="3108960" cy="749808"/>
          </a:xfrm>
          <a:prstGeom prst="rect">
            <a:avLst/>
          </a:prstGeom>
          <a:noFill/>
          <a:ln/>
        </p:spPr>
        <p:txBody>
          <a:bodyPr wrap="square" lIns="0" tIns="0" rIns="0" bIns="0" rtlCol="0" anchor="t"/>
          <a:lstStyle/>
          <a:p>
            <a:pPr marL="0" indent="0">
              <a:buNone/>
            </a:pPr>
            <a:r>
              <a:rPr lang="en-US" sz="1400" b="1" dirty="0">
                <a:solidFill>
                  <a:srgbClr val="231A2E"/>
                </a:solidFill>
                <a:latin typeface="Cambria" pitchFamily="34" charset="0"/>
                <a:ea typeface="Cambria" pitchFamily="34" charset="-122"/>
                <a:cs typeface="Cambria" pitchFamily="34" charset="-120"/>
              </a:rPr>
              <a:t>Variation</a:t>
            </a:r>
            <a:r>
              <a:rPr lang="en-US" sz="1250" b="1" dirty="0">
                <a:solidFill>
                  <a:srgbClr val="231A2E"/>
                </a:solidFill>
                <a:latin typeface="Cambria" pitchFamily="34" charset="0"/>
                <a:ea typeface="Cambria" pitchFamily="34" charset="-122"/>
                <a:cs typeface="Cambria" pitchFamily="34" charset="-120"/>
              </a:rPr>
              <a:t> in layout across plants and lines</a:t>
            </a:r>
            <a:endParaRPr lang="en-US" sz="1250" dirty="0"/>
          </a:p>
        </p:txBody>
      </p:sp>
      <p:sp>
        <p:nvSpPr>
          <p:cNvPr id="20" name="Text 18"/>
          <p:cNvSpPr txBox="1"/>
          <p:nvPr/>
        </p:nvSpPr>
        <p:spPr>
          <a:xfrm>
            <a:off x="4343400" y="4251960"/>
            <a:ext cx="708660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MITIGATION</a:t>
            </a:r>
            <a:endParaRPr lang="en-US" sz="850" dirty="0"/>
          </a:p>
        </p:txBody>
      </p:sp>
      <p:sp>
        <p:nvSpPr>
          <p:cNvPr id="21" name="Text 19"/>
          <p:cNvSpPr txBox="1"/>
          <p:nvPr/>
        </p:nvSpPr>
        <p:spPr>
          <a:xfrm>
            <a:off x="4343400" y="4453128"/>
            <a:ext cx="7086600" cy="749808"/>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The underlying model is graph-based and configuration-driven; new stations, lines, or plants are incorporated as additional graph nodes rather than requiring the model to be rebuilt for each site.</a:t>
            </a:r>
            <a:endParaRPr lang="en-US" sz="1200" dirty="0"/>
          </a:p>
        </p:txBody>
      </p:sp>
      <p:sp>
        <p:nvSpPr>
          <p:cNvPr id="22" name="Shape 20"/>
          <p:cNvSpPr/>
          <p:nvPr/>
        </p:nvSpPr>
        <p:spPr>
          <a:xfrm>
            <a:off x="548640" y="5440680"/>
            <a:ext cx="11064240" cy="1133856"/>
          </a:xfrm>
          <a:prstGeom prst="roundRect">
            <a:avLst>
              <a:gd name="adj" fmla="val 7258"/>
            </a:avLst>
          </a:prstGeom>
          <a:solidFill>
            <a:srgbClr val="FFFFFF"/>
          </a:solidFill>
          <a:ln w="12700">
            <a:solidFill>
              <a:srgbClr val="E3CFFF"/>
            </a:solidFill>
            <a:prstDash val="solid"/>
          </a:ln>
        </p:spPr>
        <p:txBody>
          <a:bodyPr/>
          <a:lstStyle/>
          <a:p>
            <a:endParaRPr lang="en-IN"/>
          </a:p>
        </p:txBody>
      </p:sp>
      <p:sp>
        <p:nvSpPr>
          <p:cNvPr id="23" name="Shape 21"/>
          <p:cNvSpPr/>
          <p:nvPr/>
        </p:nvSpPr>
        <p:spPr>
          <a:xfrm>
            <a:off x="548640" y="5440680"/>
            <a:ext cx="3566160" cy="1133856"/>
          </a:xfrm>
          <a:prstGeom prst="roundRect">
            <a:avLst>
              <a:gd name="adj" fmla="val 7258"/>
            </a:avLst>
          </a:prstGeom>
          <a:solidFill>
            <a:srgbClr val="F0DFFF"/>
          </a:solidFill>
          <a:ln/>
        </p:spPr>
        <p:txBody>
          <a:bodyPr/>
          <a:lstStyle/>
          <a:p>
            <a:endParaRPr lang="en-IN"/>
          </a:p>
        </p:txBody>
      </p:sp>
      <p:sp>
        <p:nvSpPr>
          <p:cNvPr id="24" name="Text 22"/>
          <p:cNvSpPr txBox="1"/>
          <p:nvPr/>
        </p:nvSpPr>
        <p:spPr>
          <a:xfrm>
            <a:off x="777240" y="5532120"/>
            <a:ext cx="310896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RISK</a:t>
            </a:r>
            <a:endParaRPr lang="en-US" sz="850" dirty="0"/>
          </a:p>
        </p:txBody>
      </p:sp>
      <p:sp>
        <p:nvSpPr>
          <p:cNvPr id="25" name="Text 23"/>
          <p:cNvSpPr txBox="1"/>
          <p:nvPr/>
        </p:nvSpPr>
        <p:spPr>
          <a:xfrm>
            <a:off x="777240" y="5733288"/>
            <a:ext cx="3108960" cy="749808"/>
          </a:xfrm>
          <a:prstGeom prst="rect">
            <a:avLst/>
          </a:prstGeom>
          <a:noFill/>
          <a:ln/>
        </p:spPr>
        <p:txBody>
          <a:bodyPr wrap="square" lIns="0" tIns="0" rIns="0" bIns="0" rtlCol="0" anchor="t"/>
          <a:lstStyle/>
          <a:p>
            <a:pPr marL="0" indent="0">
              <a:buNone/>
            </a:pPr>
            <a:r>
              <a:rPr lang="en-US" sz="1250" b="1" dirty="0">
                <a:solidFill>
                  <a:srgbClr val="231A2E"/>
                </a:solidFill>
                <a:latin typeface="Cambria" pitchFamily="34" charset="0"/>
                <a:ea typeface="Cambria" pitchFamily="34" charset="-122"/>
                <a:cs typeface="Cambria" pitchFamily="34" charset="-120"/>
              </a:rPr>
              <a:t>Forecast </a:t>
            </a:r>
            <a:r>
              <a:rPr lang="en-US" sz="1400" b="1" dirty="0">
                <a:solidFill>
                  <a:srgbClr val="231A2E"/>
                </a:solidFill>
                <a:latin typeface="Cambria" pitchFamily="34" charset="0"/>
                <a:ea typeface="Cambria" pitchFamily="34" charset="-122"/>
                <a:cs typeface="Cambria" pitchFamily="34" charset="-120"/>
              </a:rPr>
              <a:t>accuracy</a:t>
            </a:r>
            <a:r>
              <a:rPr lang="en-US" sz="1250" b="1" dirty="0">
                <a:solidFill>
                  <a:srgbClr val="231A2E"/>
                </a:solidFill>
                <a:latin typeface="Cambria" pitchFamily="34" charset="0"/>
                <a:ea typeface="Cambria" pitchFamily="34" charset="-122"/>
                <a:cs typeface="Cambria" pitchFamily="34" charset="-120"/>
              </a:rPr>
              <a:t> degrading over time</a:t>
            </a:r>
            <a:endParaRPr lang="en-US" sz="1250" dirty="0"/>
          </a:p>
        </p:txBody>
      </p:sp>
      <p:sp>
        <p:nvSpPr>
          <p:cNvPr id="26" name="Text 24"/>
          <p:cNvSpPr txBox="1"/>
          <p:nvPr/>
        </p:nvSpPr>
        <p:spPr>
          <a:xfrm>
            <a:off x="4343400" y="5532120"/>
            <a:ext cx="7086600" cy="219456"/>
          </a:xfrm>
          <a:prstGeom prst="rect">
            <a:avLst/>
          </a:prstGeom>
          <a:noFill/>
          <a:ln/>
        </p:spPr>
        <p:txBody>
          <a:bodyPr wrap="square" lIns="0" tIns="0" rIns="0" bIns="0" rtlCol="0" anchor="ctr"/>
          <a:lstStyle/>
          <a:p>
            <a:pPr marL="0" indent="0">
              <a:buNone/>
            </a:pPr>
            <a:r>
              <a:rPr lang="en-US" sz="850" b="1" kern="0" spc="150" dirty="0">
                <a:solidFill>
                  <a:srgbClr val="6E00B3"/>
                </a:solidFill>
                <a:latin typeface="Calibri" pitchFamily="34" charset="0"/>
                <a:ea typeface="Calibri" pitchFamily="34" charset="-122"/>
                <a:cs typeface="Calibri" pitchFamily="34" charset="-120"/>
              </a:rPr>
              <a:t>MITIGATION</a:t>
            </a:r>
            <a:endParaRPr lang="en-US" sz="850" dirty="0"/>
          </a:p>
        </p:txBody>
      </p:sp>
      <p:sp>
        <p:nvSpPr>
          <p:cNvPr id="27" name="Text 25"/>
          <p:cNvSpPr txBox="1"/>
          <p:nvPr/>
        </p:nvSpPr>
        <p:spPr>
          <a:xfrm>
            <a:off x="4343400" y="5733288"/>
            <a:ext cx="7086600" cy="749808"/>
          </a:xfrm>
          <a:prstGeom prst="rect">
            <a:avLst/>
          </a:prstGeom>
          <a:noFill/>
          <a:ln/>
        </p:spPr>
        <p:txBody>
          <a:bodyPr wrap="square" lIns="0" tIns="0" rIns="0" bIns="0" rtlCol="0" anchor="t"/>
          <a:lstStyle/>
          <a:p>
            <a:pPr marL="0" indent="0">
              <a:buNone/>
            </a:pPr>
            <a:r>
              <a:rPr lang="en-US" sz="1200" dirty="0">
                <a:solidFill>
                  <a:srgbClr val="231A2E"/>
                </a:solidFill>
                <a:latin typeface="Calibri" pitchFamily="34" charset="0"/>
                <a:ea typeface="Calibri" pitchFamily="34" charset="-122"/>
                <a:cs typeface="Calibri" pitchFamily="34" charset="-120"/>
              </a:rPr>
              <a:t>Forecast outcomes are continuously validated against actual results, with retraining can be triggered automatically once observed accuracy falls below a defined threshold.</a:t>
            </a:r>
            <a:endParaRPr lang="en-US" sz="1200" dirty="0"/>
          </a:p>
        </p:txBody>
      </p:sp>
      <p:sp>
        <p:nvSpPr>
          <p:cNvPr id="28" name="Text 26"/>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6E6478"/>
                </a:solidFill>
                <a:latin typeface="Calibri" pitchFamily="34" charset="0"/>
                <a:ea typeface="Calibri" pitchFamily="34" charset="-122"/>
                <a:cs typeface="Calibri" pitchFamily="34" charset="-120"/>
              </a:rPr>
              <a:t>11</a:t>
            </a:r>
            <a:endParaRPr lang="en-US" sz="950" dirty="0"/>
          </a:p>
        </p:txBody>
      </p:sp>
      <p:sp>
        <p:nvSpPr>
          <p:cNvPr id="29" name="Shape 27"/>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60221"/>
        </a:solidFill>
        <a:effectLst/>
      </p:bgPr>
    </p:bg>
    <p:spTree>
      <p:nvGrpSpPr>
        <p:cNvPr id="1" name=""/>
        <p:cNvGrpSpPr/>
        <p:nvPr/>
      </p:nvGrpSpPr>
      <p:grpSpPr>
        <a:xfrm>
          <a:off x="0" y="0"/>
          <a:ext cx="0" cy="0"/>
          <a:chOff x="0" y="0"/>
          <a:chExt cx="0" cy="0"/>
        </a:xfrm>
      </p:grpSpPr>
      <p:sp>
        <p:nvSpPr>
          <p:cNvPr id="2" name="Text 0"/>
          <p:cNvSpPr txBox="1"/>
          <p:nvPr/>
        </p:nvSpPr>
        <p:spPr>
          <a:xfrm>
            <a:off x="8778240" y="1463040"/>
            <a:ext cx="4572000" cy="5029200"/>
          </a:xfrm>
          <a:prstGeom prst="rect">
            <a:avLst/>
          </a:prstGeom>
          <a:noFill/>
          <a:ln/>
        </p:spPr>
        <p:txBody>
          <a:bodyPr wrap="square" lIns="0" tIns="0" rIns="0" bIns="0" rtlCol="0" anchor="ctr"/>
          <a:lstStyle/>
          <a:p>
            <a:pPr marL="0" indent="0" algn="ctr">
              <a:buNone/>
            </a:pPr>
            <a:r>
              <a:rPr lang="en-US" sz="34000" b="1" dirty="0">
                <a:solidFill>
                  <a:srgbClr val="241038"/>
                </a:solidFill>
                <a:latin typeface="Cambria" pitchFamily="34" charset="0"/>
                <a:ea typeface="Cambria" pitchFamily="34" charset="-122"/>
                <a:cs typeface="Cambria" pitchFamily="34" charset="-120"/>
              </a:rPr>
              <a:t>&gt;</a:t>
            </a:r>
            <a:endParaRPr lang="en-US" sz="34000" dirty="0"/>
          </a:p>
        </p:txBody>
      </p:sp>
      <p:sp>
        <p:nvSpPr>
          <p:cNvPr id="3" name="Text 1"/>
          <p:cNvSpPr txBox="1"/>
          <p:nvPr/>
        </p:nvSpPr>
        <p:spPr>
          <a:xfrm>
            <a:off x="548640" y="365760"/>
            <a:ext cx="8229600" cy="292608"/>
          </a:xfrm>
          <a:prstGeom prst="rect">
            <a:avLst/>
          </a:prstGeom>
          <a:noFill/>
          <a:ln/>
        </p:spPr>
        <p:txBody>
          <a:bodyPr wrap="square" lIns="0" tIns="0" rIns="0" bIns="0" rtlCol="0" anchor="ctr"/>
          <a:lstStyle/>
          <a:p>
            <a:pPr marL="0" indent="0">
              <a:buNone/>
            </a:pPr>
            <a:r>
              <a:rPr lang="en-US" sz="1150" b="1" kern="0" spc="200" dirty="0">
                <a:solidFill>
                  <a:srgbClr val="D9B8FF"/>
                </a:solidFill>
                <a:latin typeface="Calibri" pitchFamily="34" charset="0"/>
                <a:ea typeface="Calibri" pitchFamily="34" charset="-122"/>
                <a:cs typeface="Calibri" pitchFamily="34" charset="-120"/>
              </a:rPr>
              <a:t>CONCLUSION &amp; RECOMMENDATION</a:t>
            </a:r>
            <a:endParaRPr lang="en-US" sz="1150" dirty="0"/>
          </a:p>
        </p:txBody>
      </p:sp>
      <p:sp>
        <p:nvSpPr>
          <p:cNvPr id="4" name="Text 2"/>
          <p:cNvSpPr txBox="1"/>
          <p:nvPr/>
        </p:nvSpPr>
        <p:spPr>
          <a:xfrm>
            <a:off x="548640" y="1005840"/>
            <a:ext cx="9144000" cy="10058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Recommendation and Next Steps</a:t>
            </a:r>
            <a:endParaRPr lang="en-US" sz="3400" dirty="0"/>
          </a:p>
        </p:txBody>
      </p:sp>
      <p:sp>
        <p:nvSpPr>
          <p:cNvPr id="5" name="Text 3"/>
          <p:cNvSpPr txBox="1"/>
          <p:nvPr/>
        </p:nvSpPr>
        <p:spPr>
          <a:xfrm>
            <a:off x="548640" y="2148840"/>
            <a:ext cx="8138160" cy="1737360"/>
          </a:xfrm>
          <a:prstGeom prst="rect">
            <a:avLst/>
          </a:prstGeom>
          <a:noFill/>
          <a:ln/>
        </p:spPr>
        <p:txBody>
          <a:bodyPr wrap="square" lIns="0" tIns="0" rIns="0" bIns="0" rtlCol="0" anchor="t"/>
          <a:lstStyle/>
          <a:p>
            <a:pPr marL="0" indent="0">
              <a:spcAft>
                <a:spcPts val="1200"/>
              </a:spcAft>
              <a:buNone/>
            </a:pPr>
            <a:r>
              <a:rPr lang="en-US" sz="1500" dirty="0">
                <a:solidFill>
                  <a:srgbClr val="E9DBFF"/>
                </a:solidFill>
                <a:latin typeface="Calibri" pitchFamily="34" charset="0"/>
                <a:ea typeface="Calibri" pitchFamily="34" charset="-122"/>
                <a:cs typeface="Calibri" pitchFamily="34" charset="-120"/>
              </a:rPr>
              <a:t>DigitalTwin.ai has been demonstrated, on a working prototype, to predict station-level conditions in advance, to explain the origin of an emerging issue, and to recommend a corrective response. The design accounts explicitly for uneven sensor coverage and for the operational constraints of live production environments.</a:t>
            </a:r>
            <a:endParaRPr lang="en-US" sz="1500" dirty="0"/>
          </a:p>
          <a:p>
            <a:pPr marL="0" indent="0">
              <a:spcAft>
                <a:spcPts val="1200"/>
              </a:spcAft>
              <a:buNone/>
            </a:pPr>
            <a:r>
              <a:rPr lang="en-US" sz="1500" dirty="0">
                <a:solidFill>
                  <a:srgbClr val="E9DBFF"/>
                </a:solidFill>
                <a:latin typeface="Calibri" pitchFamily="34" charset="0"/>
                <a:ea typeface="Calibri" pitchFamily="34" charset="-122"/>
                <a:cs typeface="Calibri" pitchFamily="34" charset="-120"/>
              </a:rPr>
              <a:t>The recommended next step is a controlled pilot to validate these results under real operating conditions, prior to any decision on wider deployment.</a:t>
            </a:r>
            <a:endParaRPr lang="en-US" sz="1500" dirty="0"/>
          </a:p>
        </p:txBody>
      </p:sp>
      <p:sp>
        <p:nvSpPr>
          <p:cNvPr id="8" name="Text 6"/>
          <p:cNvSpPr txBox="1"/>
          <p:nvPr/>
        </p:nvSpPr>
        <p:spPr>
          <a:xfrm>
            <a:off x="548640" y="5669280"/>
            <a:ext cx="54864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Team : </a:t>
            </a:r>
            <a:r>
              <a:rPr lang="en-US" sz="1600" b="1" dirty="0" err="1">
                <a:solidFill>
                  <a:srgbClr val="FFFFFF"/>
                </a:solidFill>
                <a:latin typeface="Cambria" pitchFamily="34" charset="0"/>
                <a:ea typeface="Cambria" pitchFamily="34" charset="-122"/>
                <a:cs typeface="Cambria" pitchFamily="34" charset="-120"/>
              </a:rPr>
              <a:t>Catalyst_IITB_DigitalTwin</a:t>
            </a:r>
            <a:endParaRPr lang="en-US" sz="1600" b="1" dirty="0">
              <a:solidFill>
                <a:srgbClr val="FFFFFF"/>
              </a:solidFill>
              <a:latin typeface="Cambria" pitchFamily="34" charset="0"/>
              <a:ea typeface="Cambria" pitchFamily="34" charset="-122"/>
              <a:cs typeface="Cambria" pitchFamily="34" charset="-120"/>
            </a:endParaRPr>
          </a:p>
        </p:txBody>
      </p:sp>
      <p:sp>
        <p:nvSpPr>
          <p:cNvPr id="9" name="Text 7"/>
          <p:cNvSpPr txBox="1"/>
          <p:nvPr/>
        </p:nvSpPr>
        <p:spPr>
          <a:xfrm>
            <a:off x="548640" y="5984748"/>
            <a:ext cx="5486400" cy="320040"/>
          </a:xfrm>
          <a:prstGeom prst="rect">
            <a:avLst/>
          </a:prstGeom>
          <a:noFill/>
          <a:ln/>
        </p:spPr>
        <p:txBody>
          <a:bodyPr wrap="square" lIns="0" tIns="0" rIns="0" bIns="0" rtlCol="0" anchor="ctr"/>
          <a:lstStyle/>
          <a:p>
            <a:pPr marL="0" indent="0">
              <a:buNone/>
            </a:pPr>
            <a:r>
              <a:rPr lang="en-US" sz="1200" dirty="0">
                <a:solidFill>
                  <a:srgbClr val="C9AEE8"/>
                </a:solidFill>
                <a:latin typeface="Calibri" pitchFamily="34" charset="0"/>
                <a:ea typeface="Calibri" pitchFamily="34" charset="-122"/>
                <a:cs typeface="Calibri" pitchFamily="34" charset="-120"/>
              </a:rPr>
              <a:t>github.com/ApratimAnand336/Digitwin</a:t>
            </a:r>
            <a:endParaRPr lang="en-US" sz="1200" dirty="0"/>
          </a:p>
        </p:txBody>
      </p:sp>
      <p:sp>
        <p:nvSpPr>
          <p:cNvPr id="10" name="Text 8"/>
          <p:cNvSpPr txBox="1"/>
          <p:nvPr/>
        </p:nvSpPr>
        <p:spPr>
          <a:xfrm>
            <a:off x="11368735" y="6419088"/>
            <a:ext cx="548640" cy="274320"/>
          </a:xfrm>
          <a:prstGeom prst="rect">
            <a:avLst/>
          </a:prstGeom>
          <a:noFill/>
          <a:ln/>
        </p:spPr>
        <p:txBody>
          <a:bodyPr wrap="square" lIns="0" tIns="0" rIns="0" bIns="0" rtlCol="0" anchor="ctr"/>
          <a:lstStyle/>
          <a:p>
            <a:pPr marL="0" indent="0" algn="r">
              <a:buNone/>
            </a:pPr>
            <a:r>
              <a:rPr lang="en-US" sz="950" dirty="0">
                <a:solidFill>
                  <a:srgbClr val="C9AEE8"/>
                </a:solidFill>
                <a:latin typeface="Calibri" pitchFamily="34" charset="0"/>
                <a:ea typeface="Calibri" pitchFamily="34" charset="-122"/>
                <a:cs typeface="Calibri" pitchFamily="34" charset="-120"/>
              </a:rPr>
              <a:t>12</a:t>
            </a:r>
            <a:endParaRPr lang="en-US" sz="950" dirty="0"/>
          </a:p>
        </p:txBody>
      </p:sp>
      <p:sp>
        <p:nvSpPr>
          <p:cNvPr id="11" name="Shape 9"/>
          <p:cNvSpPr/>
          <p:nvPr/>
        </p:nvSpPr>
        <p:spPr>
          <a:xfrm>
            <a:off x="11899087" y="6583680"/>
            <a:ext cx="109728" cy="109728"/>
          </a:xfrm>
          <a:prstGeom prst="ellipse">
            <a:avLst/>
          </a:prstGeom>
          <a:solidFill>
            <a:srgbClr val="A100FF"/>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2186</Words>
  <Application>Microsoft Office PowerPoint</Application>
  <PresentationFormat>Widescreen</PresentationFormat>
  <Paragraphs>184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Sameer Jaiswal</cp:lastModifiedBy>
  <cp:revision>7</cp:revision>
  <dcterms:created xsi:type="dcterms:W3CDTF">2026-08-29T21:16:49Z</dcterms:created>
  <dcterms:modified xsi:type="dcterms:W3CDTF">2026-08-30T12:46:04Z</dcterms:modified>
</cp:coreProperties>
</file>